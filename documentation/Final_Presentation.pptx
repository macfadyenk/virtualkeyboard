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5143500" cx="9144000"/>
  <p:notesSz cx="6858000" cy="9144000"/>
  <p:embeddedFontLst>
    <p:embeddedFont>
      <p:font typeface="Average"/>
      <p:regular r:id="rId54"/>
    </p:embeddedFont>
    <p:embeddedFont>
      <p:font typeface="Oswald"/>
      <p:regular r:id="rId55"/>
      <p:bold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18B035-4B8D-4A82-BD8B-347EC4CFC0C5}">
  <a:tblStyle styleId="{DB18B035-4B8D-4A82-BD8B-347EC4CFC0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AE3A5C1-63CB-43BA-ABAF-F9DCDF09588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5AB82CF-F9A9-40E9-95CC-0FA6DCF1D37F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E8893E1-D91B-430F-8760-7C6349B9AFAD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Oswald-regular.fntdata"/><Relationship Id="rId10" Type="http://schemas.openxmlformats.org/officeDocument/2006/relationships/slide" Target="slides/slide4.xml"/><Relationship Id="rId54" Type="http://schemas.openxmlformats.org/officeDocument/2006/relationships/font" Target="fonts/Average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font" Target="fonts/Oswald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635f3db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635f3db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6df006382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6df006382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52399dd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52399dd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Mary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7570fec89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7570fec89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Mary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003a1017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003a1017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Mary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7570fec8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7570fec8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6df00638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6df00638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6b7a07b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6b7a07b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Chloe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003a1017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003a1017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Kailey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75bbc12c6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75bbc12c6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52399dd1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52399dd1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Michael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75bbc12c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75bbc12c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Michael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52399dd1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52399dd1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Maddie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52399dd1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52399dd1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Chloe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52399dd1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52399dd1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Kailey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52399dd1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52399dd1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Kailey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ece27665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ece27665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Kailey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7570fec89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7570fec89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7570fec89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d7570fec89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7570fec89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7570fec89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52399dd1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52399dd1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Maddie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7febac566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d7febac566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Maddie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7febac56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d7febac56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Michael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03347edc3_6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03347edc3_6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Michael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dece27665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dece27665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Kailey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6df006382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d6df006382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ece27665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dece27665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52399dd1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d52399dd1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Nick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dfff480fa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dfff480fa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Nick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52399dd1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d52399dd1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Chloe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fff480f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dfff480f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Nick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005f09e1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e005f09e1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Nick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e03347edc3_7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e03347edc3_7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Nick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d6df006382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d6df006382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52399dd1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d52399dd1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Chloe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d7febac56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d7febac56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Michael, Maddie, Chloe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d7febac56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d7febac56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Kailey, Ava, Maddie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d7febac56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d7febac56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Nick 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7febac56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d7febac56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Nick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d6df006382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d6df006382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52399dd1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d52399dd1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Nick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03347edc3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e03347edc3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Nick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d75bbc12c6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d75bbc12c6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d75bbc12c6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d75bbc12c6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d841a922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d841a922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d8278978a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d8278978a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drive.google.com/file/d/1eHLTga_9QlsCLVYSlB8uerLiR0ypbPKx/view" TargetMode="External"/><Relationship Id="rId4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drive.google.com/file/d/1__0mjWedxXGyT5kgkMPPiXXDVZyyKI09/view" TargetMode="External"/><Relationship Id="rId4" Type="http://schemas.openxmlformats.org/officeDocument/2006/relationships/image" Target="../media/image1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doi.org/10.1016/0013-4694(88)90149-6" TargetMode="External"/><Relationship Id="rId4" Type="http://schemas.openxmlformats.org/officeDocument/2006/relationships/hyperlink" Target="https://doi.org/10.1016/0013-4694(88)90149-6" TargetMode="External"/><Relationship Id="rId5" Type="http://schemas.openxmlformats.org/officeDocument/2006/relationships/hyperlink" Target="https://doi.org/10.1016/j.jneumeth.2007.07.017" TargetMode="External"/><Relationship Id="rId6" Type="http://schemas.openxmlformats.org/officeDocument/2006/relationships/hyperlink" Target="https://doi.org/10.1109/JPROC.2023.3308088" TargetMode="External"/><Relationship Id="rId7" Type="http://schemas.openxmlformats.org/officeDocument/2006/relationships/hyperlink" Target="https://doi.org/10.1109/JPROC.2023.3308088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1794600" y="1316000"/>
            <a:ext cx="5554800" cy="152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27949"/>
              <a:buNone/>
            </a:pPr>
            <a:r>
              <a:rPr b="1" lang="en" sz="3542"/>
              <a:t>EEG-Driven Spiking Neural Network Virtual Keyboard</a:t>
            </a:r>
            <a:endParaRPr b="1" sz="354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40722"/>
              <a:buNone/>
            </a:pPr>
            <a:r>
              <a:rPr b="1" lang="en" sz="2431"/>
              <a:t>with CPU &amp; FPGA Implementation</a:t>
            </a:r>
            <a:endParaRPr b="1" sz="2431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400"/>
              <a:t>BE 4999 Winter 2026</a:t>
            </a:r>
            <a:endParaRPr b="1" sz="14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14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400"/>
              <a:t>Chloe Orlandi, Madalyn Fox, Kailey MacFadyen, Michael Josh Pasamba,</a:t>
            </a:r>
            <a:endParaRPr sz="14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400"/>
              <a:t>Ava Waligora, Mary Fayad, &amp; Nicklas Hanson</a:t>
            </a:r>
            <a:endParaRPr sz="1400"/>
          </a:p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729450" y="1093850"/>
            <a:ext cx="76884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Meet Our Design Team</a:t>
            </a:r>
            <a:endParaRPr sz="3000"/>
          </a:p>
        </p:txBody>
      </p:sp>
      <p:pic>
        <p:nvPicPr>
          <p:cNvPr id="67" name="Google Shape;67;p14" title="A7EF87A2-AC89-496D-9D20-D6FA1584A744.JPEG"/>
          <p:cNvPicPr preferRelativeResize="0"/>
          <p:nvPr/>
        </p:nvPicPr>
        <p:blipFill rotWithShape="1">
          <a:blip r:embed="rId3">
            <a:alphaModFix/>
          </a:blip>
          <a:srcRect b="6999" l="21459" r="5076" t="43952"/>
          <a:stretch/>
        </p:blipFill>
        <p:spPr>
          <a:xfrm>
            <a:off x="1636000" y="1740350"/>
            <a:ext cx="5872000" cy="294034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017725"/>
            <a:ext cx="6976200" cy="38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Virtual Brain Computer Interface (BCI)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Project focuses on EEG driven virtual keyboard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Original scope was positive selection of eight letters - expansion to thirty-six alphanumeric characters.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Applications to improve communication with disabled or impaired.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Applications for industry + technology (faster/quicker communication)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Also opportunity for mapping and understanding of overall brain function. 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Project Goal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Convert raw EEG data with stimuli into expected alphanumeric character display</a:t>
            </a:r>
            <a:endParaRPr sz="1500">
              <a:solidFill>
                <a:schemeClr val="lt2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○"/>
            </a:pPr>
            <a:r>
              <a:rPr lang="en" sz="1500">
                <a:solidFill>
                  <a:schemeClr val="lt2"/>
                </a:solidFill>
              </a:rPr>
              <a:t>High accuracy (above random success rate)</a:t>
            </a:r>
            <a:endParaRPr sz="1500">
              <a:solidFill>
                <a:schemeClr val="lt2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○"/>
            </a:pPr>
            <a:r>
              <a:rPr lang="en" sz="1500">
                <a:solidFill>
                  <a:schemeClr val="lt2"/>
                </a:solidFill>
              </a:rPr>
              <a:t>Low latency (fast selection for each character)</a:t>
            </a:r>
            <a:endParaRPr sz="1500">
              <a:solidFill>
                <a:schemeClr val="lt2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○"/>
            </a:pPr>
            <a:r>
              <a:rPr lang="en" sz="1500">
                <a:solidFill>
                  <a:schemeClr val="lt2"/>
                </a:solidFill>
              </a:rPr>
              <a:t>Low power consumption (efficiency)</a:t>
            </a:r>
            <a:endParaRPr sz="1500">
              <a:solidFill>
                <a:schemeClr val="lt2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○"/>
            </a:pPr>
            <a:r>
              <a:rPr lang="en" sz="1500">
                <a:solidFill>
                  <a:schemeClr val="lt2"/>
                </a:solidFill>
              </a:rPr>
              <a:t>Low cost (project budget $600)</a:t>
            </a:r>
            <a:endParaRPr sz="1500">
              <a:solidFill>
                <a:schemeClr val="lt2"/>
              </a:solidFill>
            </a:endParaRPr>
          </a:p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017725"/>
            <a:ext cx="8454900" cy="38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EEG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Safe and non-invasive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Easy to measure/capture output of electrical signals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Analyze/classify through specific commands or regional brain activities</a:t>
            </a:r>
            <a:endParaRPr sz="14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Classification</a:t>
            </a:r>
            <a:endParaRPr b="1" sz="15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Process achieved through pipeline function.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Software and hardware requirements to complete character selection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Preprocessing and filtering of raw data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Feature extraction to identify correct positive response (P300)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Spike Neural Network (SNN) training and hyperparameters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Character selection probability matrix</a:t>
            </a:r>
            <a:endParaRPr sz="14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2"/>
              </a:solidFill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600" y="3686775"/>
            <a:ext cx="8076800" cy="11673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- P300 Signal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4608600" cy="39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2"/>
                </a:solidFill>
              </a:rPr>
              <a:t>What is P300 Response?</a:t>
            </a:r>
            <a:endParaRPr b="1"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lang="en" sz="1600">
                <a:solidFill>
                  <a:schemeClr val="lt2"/>
                </a:solidFill>
              </a:rPr>
              <a:t>Event-Related Potential (ERP)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lang="en" sz="1600">
                <a:solidFill>
                  <a:schemeClr val="lt2"/>
                </a:solidFill>
              </a:rPr>
              <a:t>Neural response to “oddball” stimulus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lang="en" sz="1600">
                <a:solidFill>
                  <a:schemeClr val="lt2"/>
                </a:solidFill>
              </a:rPr>
              <a:t>Positive peak occurs around 300ms from trigger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2"/>
                </a:solidFill>
              </a:rPr>
              <a:t>Use in Virtual Keyboard</a:t>
            </a:r>
            <a:endParaRPr b="1"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lang="en" sz="1600">
                <a:solidFill>
                  <a:schemeClr val="lt2"/>
                </a:solidFill>
              </a:rPr>
              <a:t>1988 - Farwell and Donchin introduced P300 virtual keyboard [1]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lang="en" sz="1600">
                <a:solidFill>
                  <a:schemeClr val="lt2"/>
                </a:solidFill>
              </a:rPr>
              <a:t>Randomly flashing matrix of characters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lang="en" sz="1600">
                <a:solidFill>
                  <a:schemeClr val="lt2"/>
                </a:solidFill>
              </a:rPr>
              <a:t>Focus on character produces P300 signal when its row/column is flashed</a:t>
            </a:r>
            <a:endParaRPr sz="1600">
              <a:solidFill>
                <a:schemeClr val="lt2"/>
              </a:solidFill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8825" y="236750"/>
            <a:ext cx="3129704" cy="23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b="3153" l="25298" r="4155" t="16629"/>
          <a:stretch/>
        </p:blipFill>
        <p:spPr>
          <a:xfrm>
            <a:off x="5788913" y="2983150"/>
            <a:ext cx="2409525" cy="19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6029763" y="2475300"/>
            <a:ext cx="1927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Midline averaged P300 response</a:t>
            </a:r>
            <a:endParaRPr i="1"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6258225" y="4806000"/>
            <a:ext cx="14709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6x6 matrix of characters</a:t>
            </a:r>
            <a:endParaRPr i="1"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- Keyboard Selection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017725"/>
            <a:ext cx="4588500" cy="38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Alpha-numeric thirty-six character matrix</a:t>
            </a:r>
            <a:endParaRPr b="1" sz="15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Project uses existing raw EEG data from other research sources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B</a:t>
            </a:r>
            <a:r>
              <a:rPr lang="en" sz="1400">
                <a:solidFill>
                  <a:schemeClr val="lt2"/>
                </a:solidFill>
              </a:rPr>
              <a:t>ackground logic or understanding is required to explain character selection process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Thirty-six characters (entire English alphabet plus nine numbers and space bar) </a:t>
            </a:r>
            <a:r>
              <a:rPr lang="en" sz="1400">
                <a:solidFill>
                  <a:schemeClr val="lt2"/>
                </a:solidFill>
              </a:rPr>
              <a:t>allow </a:t>
            </a:r>
            <a:r>
              <a:rPr lang="en" sz="1400">
                <a:solidFill>
                  <a:schemeClr val="lt2"/>
                </a:solidFill>
              </a:rPr>
              <a:t>expanded communication capability.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Word or string can be created, but one character at a time.</a:t>
            </a:r>
            <a:endParaRPr sz="14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Matrix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Simplest, but longest method - flash each character individually.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Row/Column probability calculation and intersection reduces number of flashes from thirty-six to only twelve.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Achieved through 6x6 flash matrix.</a:t>
            </a:r>
            <a:endParaRPr sz="1400">
              <a:solidFill>
                <a:schemeClr val="lt2"/>
              </a:solidFill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0200" y="1017725"/>
            <a:ext cx="4067175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Materials</a:t>
            </a:r>
            <a:endParaRPr/>
          </a:p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Materials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017725"/>
            <a:ext cx="4588500" cy="38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System Components &amp; Uses</a:t>
            </a:r>
            <a:endParaRPr b="1"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FPGA Board &amp; </a:t>
            </a:r>
            <a:r>
              <a:rPr lang="en" sz="1400">
                <a:solidFill>
                  <a:schemeClr val="lt2"/>
                </a:solidFill>
              </a:rPr>
              <a:t>USB/Micro B Cable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Hardware implementation of SNN system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Power/communication between FPGA &amp; computer</a:t>
            </a:r>
            <a:endParaRPr sz="14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Computer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Development, training, and testing of full pipeline</a:t>
            </a:r>
            <a:endParaRPr sz="14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MATLAB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Coding/testing for initial preprocessing</a:t>
            </a:r>
            <a:endParaRPr sz="14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Python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Coding for full pipeline</a:t>
            </a:r>
            <a:endParaRPr sz="14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Xilinx Vivado Design Suite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Design and synthesis of FPGA</a:t>
            </a:r>
            <a:endParaRPr sz="14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VS Code &amp; Google Colab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Development and debugging</a:t>
            </a:r>
            <a:endParaRPr sz="1400">
              <a:solidFill>
                <a:schemeClr val="lt2"/>
              </a:solidFill>
            </a:endParaRPr>
          </a:p>
        </p:txBody>
      </p:sp>
      <p:graphicFrame>
        <p:nvGraphicFramePr>
          <p:cNvPr id="121" name="Google Shape;121;p21"/>
          <p:cNvGraphicFramePr/>
          <p:nvPr/>
        </p:nvGraphicFramePr>
        <p:xfrm>
          <a:off x="4900188" y="1342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{DB18B035-4B8D-4A82-BD8B-347EC4CFC0C5}</a:tableStyleId>
              </a:tblPr>
              <a:tblGrid>
                <a:gridCol w="1406300"/>
                <a:gridCol w="718975"/>
                <a:gridCol w="658875"/>
                <a:gridCol w="523025"/>
                <a:gridCol w="624950"/>
              </a:tblGrid>
              <a:tr h="9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Item Name</a:t>
                      </a:r>
                      <a:endParaRPr b="1" sz="1200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Quantity</a:t>
                      </a:r>
                      <a:endParaRPr b="1" sz="1200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Cost</a:t>
                      </a:r>
                      <a:endParaRPr b="1" sz="1200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Taxes</a:t>
                      </a:r>
                      <a:endParaRPr b="1" sz="1200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Total</a:t>
                      </a:r>
                      <a:endParaRPr b="1" sz="1200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9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Nexys A7 AMD Artix™ 7 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$290.00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$17.40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$307.40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USB/Micro B Cable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$2.99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$0.18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$3.17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Computer*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$0.00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$0.00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$0.00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Software Tools**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N/A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$0.00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$0.00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$0.00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EEG Database***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N/A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$0.00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$0.00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$0.00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50">
                <a:tc gridSpan="4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Project Total Cost:</a:t>
                      </a:r>
                      <a:endParaRPr b="1" sz="1200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$310.57</a:t>
                      </a:r>
                      <a:endParaRPr b="1" sz="1200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91450"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*Used personal laptops</a:t>
                      </a:r>
                      <a:endParaRPr i="1"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**Freely available software tools, with exception of MATLAB, which was accessed through Oakland University</a:t>
                      </a:r>
                      <a:endParaRPr i="1"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***Used public database</a:t>
                      </a:r>
                      <a:endParaRPr i="1"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Materials – EEG Dataset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152475"/>
            <a:ext cx="8520600" cy="38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Char char="➢"/>
            </a:pPr>
            <a:r>
              <a:rPr lang="en">
                <a:solidFill>
                  <a:schemeClr val="lt2"/>
                </a:solidFill>
              </a:rPr>
              <a:t>Dataset collected by Won et al. [2]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Collection Details</a:t>
            </a:r>
            <a:endParaRPr b="1">
              <a:solidFill>
                <a:schemeClr val="lt2"/>
              </a:solidFill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ct val="100000"/>
              <a:buChar char="➢"/>
            </a:pPr>
            <a:r>
              <a:rPr lang="en">
                <a:solidFill>
                  <a:schemeClr val="lt2"/>
                </a:solidFill>
              </a:rPr>
              <a:t>55 healthy subjects</a:t>
            </a:r>
            <a:endParaRPr>
              <a:solidFill>
                <a:schemeClr val="lt2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Char char="➢"/>
            </a:pPr>
            <a:r>
              <a:rPr lang="en">
                <a:solidFill>
                  <a:schemeClr val="lt2"/>
                </a:solidFill>
              </a:rPr>
              <a:t>32 electrodes</a:t>
            </a:r>
            <a:endParaRPr>
              <a:solidFill>
                <a:schemeClr val="lt2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Char char="➢"/>
            </a:pPr>
            <a:r>
              <a:rPr lang="en">
                <a:solidFill>
                  <a:schemeClr val="lt2"/>
                </a:solidFill>
              </a:rPr>
              <a:t>Sampling Rate: 512 Hz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Training Data</a:t>
            </a:r>
            <a:endParaRPr b="1">
              <a:solidFill>
                <a:schemeClr val="lt2"/>
              </a:solidFill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ct val="100000"/>
              <a:buChar char="➢"/>
            </a:pPr>
            <a:r>
              <a:rPr lang="en">
                <a:solidFill>
                  <a:schemeClr val="lt2"/>
                </a:solidFill>
              </a:rPr>
              <a:t>2 words: BRAIN &amp; POWER</a:t>
            </a:r>
            <a:endParaRPr>
              <a:solidFill>
                <a:schemeClr val="lt2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Char char="➢"/>
            </a:pPr>
            <a:r>
              <a:rPr lang="en">
                <a:solidFill>
                  <a:schemeClr val="lt2"/>
                </a:solidFill>
              </a:rPr>
              <a:t>99000 total P300/non-P300 responses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Testing Data</a:t>
            </a:r>
            <a:endParaRPr b="1">
              <a:solidFill>
                <a:schemeClr val="lt2"/>
              </a:solidFill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ct val="100000"/>
              <a:buChar char="➢"/>
            </a:pPr>
            <a:r>
              <a:rPr lang="en">
                <a:solidFill>
                  <a:schemeClr val="lt2"/>
                </a:solidFill>
              </a:rPr>
              <a:t>Validation: word SUBJECT (385 chars), Final Testing: words NEURONS, IMAGINE, QUALITY (1155 chars)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2925" y="1346000"/>
            <a:ext cx="3953200" cy="17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2"/>
          <p:cNvSpPr txBox="1"/>
          <p:nvPr/>
        </p:nvSpPr>
        <p:spPr>
          <a:xfrm>
            <a:off x="5522475" y="3122800"/>
            <a:ext cx="2774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EEG Electrodes in international 10-20 config [2]</a:t>
            </a:r>
            <a:endParaRPr i="1" sz="1000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r>
              <a:rPr lang="en"/>
              <a:t> &amp; Results</a:t>
            </a:r>
            <a:endParaRPr/>
          </a:p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017725"/>
            <a:ext cx="4260300" cy="646500"/>
          </a:xfrm>
          <a:prstGeom prst="rect">
            <a:avLst/>
          </a:prstGeom>
          <a:noFill/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2"/>
                </a:solidFill>
              </a:rPr>
              <a:t>Raw EEG Input </a:t>
            </a:r>
            <a:r>
              <a:rPr lang="en" sz="1400">
                <a:solidFill>
                  <a:schemeClr val="lt2"/>
                </a:solidFill>
              </a:rPr>
              <a:t>[2]</a:t>
            </a:r>
            <a:endParaRPr sz="14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Multi-channel EEG recorded during P300 speller task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Flash stimuli indicated by dotted lines</a:t>
            </a:r>
            <a:endParaRPr sz="1400">
              <a:solidFill>
                <a:schemeClr val="lt2"/>
              </a:solidFill>
            </a:endParaRPr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7550" y="1740425"/>
            <a:ext cx="510889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4572000" y="1017725"/>
            <a:ext cx="4114800" cy="646500"/>
          </a:xfrm>
          <a:prstGeom prst="rect">
            <a:avLst/>
          </a:prstGeom>
          <a:noFill/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2"/>
                </a:solidFill>
              </a:rPr>
              <a:t>Epoch Extraction</a:t>
            </a:r>
            <a:endParaRPr b="1"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Extract 600 ms window after each flash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Focuses on time region where P300 occurs [2]</a:t>
            </a:r>
            <a:endParaRPr sz="1400">
              <a:solidFill>
                <a:schemeClr val="lt2"/>
              </a:solidFill>
            </a:endParaRPr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2017550" y="2578625"/>
            <a:ext cx="51090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lt2"/>
                </a:solidFill>
              </a:rPr>
              <a:t>Raw EEG data of one channel for one flash sequence, with 600 ms time </a:t>
            </a:r>
            <a:r>
              <a:rPr i="1" lang="en" sz="1000">
                <a:solidFill>
                  <a:schemeClr val="lt2"/>
                </a:solidFill>
              </a:rPr>
              <a:t>window</a:t>
            </a:r>
            <a:r>
              <a:rPr i="1" lang="en" sz="1000">
                <a:solidFill>
                  <a:schemeClr val="lt2"/>
                </a:solidFill>
              </a:rPr>
              <a:t> highlighted</a:t>
            </a:r>
            <a:endParaRPr i="1" sz="1000">
              <a:solidFill>
                <a:schemeClr val="lt2"/>
              </a:solidFill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311700" y="3145925"/>
            <a:ext cx="426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Channel Selection</a:t>
            </a:r>
            <a:endParaRPr b="1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Selected 8 key EEG channels</a:t>
            </a:r>
            <a:endParaRPr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verage"/>
              <a:buChar char="➢"/>
            </a:pP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Focuses on the most relevant neural activity [3]</a:t>
            </a:r>
            <a:endParaRPr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graphicFrame>
        <p:nvGraphicFramePr>
          <p:cNvPr id="148" name="Google Shape;148;p24"/>
          <p:cNvGraphicFramePr/>
          <p:nvPr/>
        </p:nvGraphicFramePr>
        <p:xfrm>
          <a:off x="311700" y="397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{4AE3A5C1-63CB-43BA-ABAF-F9DCDF095882}</a:tableStyleId>
              </a:tblPr>
              <a:tblGrid>
                <a:gridCol w="1238250"/>
                <a:gridCol w="430725"/>
                <a:gridCol w="430725"/>
                <a:gridCol w="430725"/>
                <a:gridCol w="430725"/>
                <a:gridCol w="430725"/>
                <a:gridCol w="430725"/>
                <a:gridCol w="430725"/>
                <a:gridCol w="430725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Channel Number</a:t>
                      </a:r>
                      <a:endParaRPr b="1" sz="1200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E0E0E0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31</a:t>
                      </a:r>
                      <a:endParaRPr sz="1200">
                        <a:solidFill>
                          <a:srgbClr val="E0E0E0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E0E0E0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32</a:t>
                      </a:r>
                      <a:endParaRPr sz="1200">
                        <a:solidFill>
                          <a:srgbClr val="E0E0E0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E0E0E0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12</a:t>
                      </a:r>
                      <a:endParaRPr sz="1200">
                        <a:solidFill>
                          <a:srgbClr val="E0E0E0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E0E0E0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13</a:t>
                      </a:r>
                      <a:endParaRPr sz="1200">
                        <a:solidFill>
                          <a:srgbClr val="E0E0E0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E0E0E0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19</a:t>
                      </a:r>
                      <a:endParaRPr sz="1200">
                        <a:solidFill>
                          <a:srgbClr val="E0E0E0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E0E0E0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14</a:t>
                      </a:r>
                      <a:endParaRPr sz="1200">
                        <a:solidFill>
                          <a:srgbClr val="E0E0E0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E0E0E0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18</a:t>
                      </a:r>
                      <a:endParaRPr sz="1200">
                        <a:solidFill>
                          <a:srgbClr val="E0E0E0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E0E0E0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16</a:t>
                      </a:r>
                      <a:endParaRPr sz="1200">
                        <a:solidFill>
                          <a:srgbClr val="E0E0E0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Electrode Name</a:t>
                      </a:r>
                      <a:endParaRPr b="1" sz="1200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E0E0E0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F</a:t>
                      </a:r>
                      <a:r>
                        <a:rPr lang="en" sz="1200">
                          <a:solidFill>
                            <a:srgbClr val="E0E0E0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z</a:t>
                      </a:r>
                      <a:endParaRPr sz="1200">
                        <a:solidFill>
                          <a:srgbClr val="E0E0E0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E0E0E0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C</a:t>
                      </a:r>
                      <a:r>
                        <a:rPr lang="en" sz="1200">
                          <a:solidFill>
                            <a:srgbClr val="E0E0E0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z</a:t>
                      </a:r>
                      <a:endParaRPr sz="1200">
                        <a:solidFill>
                          <a:srgbClr val="E0E0E0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E0E0E0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P3</a:t>
                      </a:r>
                      <a:endParaRPr sz="1200">
                        <a:solidFill>
                          <a:srgbClr val="E0E0E0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E0E0E0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Pz</a:t>
                      </a:r>
                      <a:endParaRPr sz="1200">
                        <a:solidFill>
                          <a:srgbClr val="E0E0E0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E0E0E0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P</a:t>
                      </a:r>
                      <a:r>
                        <a:rPr lang="en" sz="1200">
                          <a:solidFill>
                            <a:srgbClr val="E0E0E0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4</a:t>
                      </a:r>
                      <a:endParaRPr sz="1200">
                        <a:solidFill>
                          <a:srgbClr val="E0E0E0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E0E0E0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PO3</a:t>
                      </a:r>
                      <a:endParaRPr sz="1200">
                        <a:solidFill>
                          <a:srgbClr val="E0E0E0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E0E0E0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PO4</a:t>
                      </a:r>
                      <a:endParaRPr sz="1200">
                        <a:solidFill>
                          <a:srgbClr val="E0E0E0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E0E0E0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Oz</a:t>
                      </a:r>
                      <a:endParaRPr sz="1200">
                        <a:solidFill>
                          <a:srgbClr val="E0E0E0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9" name="Google Shape;14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7088" y="3145925"/>
            <a:ext cx="2954921" cy="132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4"/>
          <p:cNvSpPr/>
          <p:nvPr/>
        </p:nvSpPr>
        <p:spPr>
          <a:xfrm>
            <a:off x="6048516" y="3455150"/>
            <a:ext cx="164700" cy="164700"/>
          </a:xfrm>
          <a:prstGeom prst="ellipse">
            <a:avLst/>
          </a:prstGeom>
          <a:solidFill>
            <a:srgbClr val="78909C">
              <a:alpha val="3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6048516" y="3758825"/>
            <a:ext cx="164700" cy="164700"/>
          </a:xfrm>
          <a:prstGeom prst="ellipse">
            <a:avLst/>
          </a:prstGeom>
          <a:solidFill>
            <a:srgbClr val="78909C">
              <a:alpha val="3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5793016" y="4061675"/>
            <a:ext cx="164700" cy="164700"/>
          </a:xfrm>
          <a:prstGeom prst="ellipse">
            <a:avLst/>
          </a:prstGeom>
          <a:solidFill>
            <a:srgbClr val="78909C">
              <a:alpha val="3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6042913" y="4062500"/>
            <a:ext cx="164700" cy="164700"/>
          </a:xfrm>
          <a:prstGeom prst="ellipse">
            <a:avLst/>
          </a:prstGeom>
          <a:solidFill>
            <a:srgbClr val="78909C">
              <a:alpha val="3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6292810" y="4062500"/>
            <a:ext cx="164700" cy="164700"/>
          </a:xfrm>
          <a:prstGeom prst="ellipse">
            <a:avLst/>
          </a:prstGeom>
          <a:solidFill>
            <a:srgbClr val="78909C">
              <a:alpha val="3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5872613" y="4194725"/>
            <a:ext cx="183000" cy="183000"/>
          </a:xfrm>
          <a:prstGeom prst="ellipse">
            <a:avLst/>
          </a:prstGeom>
          <a:solidFill>
            <a:srgbClr val="78909C">
              <a:alpha val="3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6048516" y="4366175"/>
            <a:ext cx="164700" cy="164700"/>
          </a:xfrm>
          <a:prstGeom prst="ellipse">
            <a:avLst/>
          </a:prstGeom>
          <a:solidFill>
            <a:srgbClr val="78909C">
              <a:alpha val="3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6257679" y="4189122"/>
            <a:ext cx="183000" cy="183000"/>
          </a:xfrm>
          <a:prstGeom prst="ellipse">
            <a:avLst/>
          </a:prstGeom>
          <a:solidFill>
            <a:srgbClr val="78909C">
              <a:alpha val="3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7635266" y="3455150"/>
            <a:ext cx="164700" cy="164700"/>
          </a:xfrm>
          <a:prstGeom prst="ellipse">
            <a:avLst/>
          </a:prstGeom>
          <a:solidFill>
            <a:srgbClr val="78909C">
              <a:alpha val="3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9" name="Google Shape;159;p24"/>
          <p:cNvSpPr/>
          <p:nvPr/>
        </p:nvSpPr>
        <p:spPr>
          <a:xfrm>
            <a:off x="7635266" y="3758825"/>
            <a:ext cx="164700" cy="164700"/>
          </a:xfrm>
          <a:prstGeom prst="ellipse">
            <a:avLst/>
          </a:prstGeom>
          <a:solidFill>
            <a:srgbClr val="78909C">
              <a:alpha val="3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7390941" y="4062500"/>
            <a:ext cx="164700" cy="164700"/>
          </a:xfrm>
          <a:prstGeom prst="ellipse">
            <a:avLst/>
          </a:prstGeom>
          <a:solidFill>
            <a:srgbClr val="78909C">
              <a:alpha val="3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7629663" y="4062500"/>
            <a:ext cx="164700" cy="164700"/>
          </a:xfrm>
          <a:prstGeom prst="ellipse">
            <a:avLst/>
          </a:prstGeom>
          <a:solidFill>
            <a:srgbClr val="78909C">
              <a:alpha val="3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7879597" y="4061675"/>
            <a:ext cx="164700" cy="164700"/>
          </a:xfrm>
          <a:prstGeom prst="ellipse">
            <a:avLst/>
          </a:prstGeom>
          <a:solidFill>
            <a:srgbClr val="78909C">
              <a:alpha val="3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7439150" y="4203875"/>
            <a:ext cx="164700" cy="164700"/>
          </a:xfrm>
          <a:prstGeom prst="ellipse">
            <a:avLst/>
          </a:prstGeom>
          <a:solidFill>
            <a:srgbClr val="78909C">
              <a:alpha val="3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7820191" y="4203875"/>
            <a:ext cx="164700" cy="164700"/>
          </a:xfrm>
          <a:prstGeom prst="ellipse">
            <a:avLst/>
          </a:prstGeom>
          <a:solidFill>
            <a:srgbClr val="78909C">
              <a:alpha val="3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7629666" y="4366175"/>
            <a:ext cx="164700" cy="164700"/>
          </a:xfrm>
          <a:prstGeom prst="ellipse">
            <a:avLst/>
          </a:prstGeom>
          <a:solidFill>
            <a:srgbClr val="78909C">
              <a:alpha val="3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6" name="Google Shape;166;p24"/>
          <p:cNvSpPr txBox="1"/>
          <p:nvPr>
            <p:ph idx="1" type="body"/>
          </p:nvPr>
        </p:nvSpPr>
        <p:spPr>
          <a:xfrm>
            <a:off x="5427100" y="4474025"/>
            <a:ext cx="2955000" cy="330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lt2"/>
                </a:solidFill>
              </a:rPr>
              <a:t>Electrode channel mapping [2], with selected channels highlighted</a:t>
            </a:r>
            <a:endParaRPr i="1" sz="1000">
              <a:solidFill>
                <a:schemeClr val="lt2"/>
              </a:solidFill>
            </a:endParaRPr>
          </a:p>
        </p:txBody>
      </p:sp>
      <p:sp>
        <p:nvSpPr>
          <p:cNvPr id="167" name="Google Shape;167;p2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311700" y="1093925"/>
            <a:ext cx="5100300" cy="34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Linear Detrending</a:t>
            </a:r>
            <a:endParaRPr b="1"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</a:rPr>
              <a:t>Removes linear drift within each epoch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2"/>
                </a:solidFill>
              </a:rPr>
              <a:t>Baseline Correction</a:t>
            </a:r>
            <a:endParaRPr b="1" sz="14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Subtract mean of 200 ms pre-stimulus window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Removes DC offset and signal drift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Bandpass Filtering</a:t>
            </a:r>
            <a:endParaRPr b="1"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</a:rPr>
              <a:t>4th-order Butterworth filter applied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</a:rPr>
              <a:t>Tested for best </a:t>
            </a:r>
            <a:r>
              <a:rPr lang="en" sz="1500">
                <a:solidFill>
                  <a:schemeClr val="lt2"/>
                </a:solidFill>
              </a:rPr>
              <a:t>cutoff</a:t>
            </a:r>
            <a:r>
              <a:rPr lang="en" sz="1500">
                <a:solidFill>
                  <a:schemeClr val="lt2"/>
                </a:solidFill>
              </a:rPr>
              <a:t> </a:t>
            </a:r>
            <a:r>
              <a:rPr lang="en" sz="1500">
                <a:solidFill>
                  <a:schemeClr val="lt2"/>
                </a:solidFill>
              </a:rPr>
              <a:t>frequency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Tested</a:t>
            </a:r>
            <a:r>
              <a:rPr lang="en" sz="1500">
                <a:solidFill>
                  <a:schemeClr val="lt2"/>
                </a:solidFill>
              </a:rPr>
              <a:t>: 0.5-10 Hz vs 0.5-15 Hz </a:t>
            </a:r>
            <a:endParaRPr sz="1500">
              <a:solidFill>
                <a:schemeClr val="lt2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○"/>
            </a:pPr>
            <a:r>
              <a:rPr lang="en" sz="1500">
                <a:solidFill>
                  <a:schemeClr val="lt2"/>
                </a:solidFill>
              </a:rPr>
              <a:t>Compared raw vs filtered signals</a:t>
            </a:r>
            <a:endParaRPr sz="1500">
              <a:solidFill>
                <a:schemeClr val="lt2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○"/>
            </a:pPr>
            <a:r>
              <a:rPr lang="en" sz="1500">
                <a:solidFill>
                  <a:schemeClr val="lt2"/>
                </a:solidFill>
              </a:rPr>
              <a:t>Evaluated smoothing vs feature preservation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Selected: 0.5-15 Hz</a:t>
            </a:r>
            <a:endParaRPr sz="1500">
              <a:solidFill>
                <a:schemeClr val="lt2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○"/>
            </a:pPr>
            <a:r>
              <a:rPr lang="en" sz="1500">
                <a:solidFill>
                  <a:schemeClr val="lt2"/>
                </a:solidFill>
              </a:rPr>
              <a:t>Better balance of noise reduction and signal detail</a:t>
            </a:r>
            <a:endParaRPr sz="1500">
              <a:solidFill>
                <a:schemeClr val="lt2"/>
              </a:solidFill>
            </a:endParaRPr>
          </a:p>
        </p:txBody>
      </p:sp>
      <p:pic>
        <p:nvPicPr>
          <p:cNvPr id="174" name="Google Shape;1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0113" y="2752103"/>
            <a:ext cx="2294414" cy="17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6300" y="722050"/>
            <a:ext cx="2369900" cy="176755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76" name="Google Shape;17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6200" y="717116"/>
            <a:ext cx="2369900" cy="1777417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77" name="Google Shape;177;p25"/>
          <p:cNvSpPr txBox="1"/>
          <p:nvPr>
            <p:ph idx="1" type="body"/>
          </p:nvPr>
        </p:nvSpPr>
        <p:spPr>
          <a:xfrm>
            <a:off x="4128750" y="2413400"/>
            <a:ext cx="21450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lt2"/>
                </a:solidFill>
              </a:rPr>
              <a:t>Cutoff Frequency of Filter: 0.5-10 Hz</a:t>
            </a:r>
            <a:endParaRPr i="1" sz="1000">
              <a:solidFill>
                <a:schemeClr val="lt2"/>
              </a:solidFill>
            </a:endParaRPr>
          </a:p>
        </p:txBody>
      </p:sp>
      <p:sp>
        <p:nvSpPr>
          <p:cNvPr id="178" name="Google Shape;178;p25"/>
          <p:cNvSpPr txBox="1"/>
          <p:nvPr>
            <p:ph idx="1" type="body"/>
          </p:nvPr>
        </p:nvSpPr>
        <p:spPr>
          <a:xfrm>
            <a:off x="6498650" y="2413400"/>
            <a:ext cx="21450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lt2"/>
                </a:solidFill>
              </a:rPr>
              <a:t>Cutoff Frequency of Filter: 0.5-15 Hz</a:t>
            </a:r>
            <a:endParaRPr i="1" sz="1000">
              <a:solidFill>
                <a:schemeClr val="lt2"/>
              </a:solidFill>
            </a:endParaRPr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5954825" y="4453325"/>
            <a:ext cx="21450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lt2"/>
                </a:solidFill>
              </a:rPr>
              <a:t>Preprocessed 600 ms Epoch</a:t>
            </a:r>
            <a:endParaRPr i="1" sz="1000">
              <a:solidFill>
                <a:schemeClr val="lt2"/>
              </a:solidFill>
            </a:endParaRPr>
          </a:p>
        </p:txBody>
      </p:sp>
      <p:sp>
        <p:nvSpPr>
          <p:cNvPr id="180" name="Google Shape;180;p2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n"/>
              <a:t>Feature Extraction</a:t>
            </a:r>
            <a:endParaRPr/>
          </a:p>
        </p:txBody>
      </p:sp>
      <p:sp>
        <p:nvSpPr>
          <p:cNvPr id="186" name="Google Shape;186;p26"/>
          <p:cNvSpPr txBox="1"/>
          <p:nvPr>
            <p:ph idx="1" type="body"/>
          </p:nvPr>
        </p:nvSpPr>
        <p:spPr>
          <a:xfrm>
            <a:off x="311700" y="1017725"/>
            <a:ext cx="5199600" cy="4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Purpose</a:t>
            </a:r>
            <a:endParaRPr b="1"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</a:rPr>
              <a:t>Further reduce noise for classification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Time downsampling</a:t>
            </a:r>
            <a:endParaRPr b="1"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Decimation by average (f=3): 512Hz -&gt; 171Hz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Time Window</a:t>
            </a:r>
            <a:endParaRPr b="1"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Narrow in on P300 signal (~300ms)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200-400 ms window accounts for subject and trial variation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Standardization</a:t>
            </a:r>
            <a:endParaRPr b="1"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Standard scaler applied per channel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</a:endParaRPr>
          </a:p>
        </p:txBody>
      </p:sp>
      <p:pic>
        <p:nvPicPr>
          <p:cNvPr id="187" name="Google Shape;18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1200" y="1385150"/>
            <a:ext cx="3321100" cy="258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 txBox="1"/>
          <p:nvPr/>
        </p:nvSpPr>
        <p:spPr>
          <a:xfrm>
            <a:off x="5749000" y="3919975"/>
            <a:ext cx="2845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Example of a feature extracted sample waveform</a:t>
            </a:r>
            <a:endParaRPr i="1"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9" name="Google Shape;189;p2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Spike Encoding</a:t>
            </a:r>
            <a:endParaRPr/>
          </a:p>
        </p:txBody>
      </p:sp>
      <p:sp>
        <p:nvSpPr>
          <p:cNvPr id="195" name="Google Shape;195;p27"/>
          <p:cNvSpPr txBox="1"/>
          <p:nvPr>
            <p:ph idx="1" type="body"/>
          </p:nvPr>
        </p:nvSpPr>
        <p:spPr>
          <a:xfrm>
            <a:off x="311700" y="1093925"/>
            <a:ext cx="5448900" cy="38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Purpose</a:t>
            </a:r>
            <a:endParaRPr b="1"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Convert EEG signals into spike trains for SNN processing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Preserve temporal information while reducing </a:t>
            </a:r>
            <a:r>
              <a:rPr lang="en" sz="1500">
                <a:solidFill>
                  <a:schemeClr val="lt2"/>
                </a:solidFill>
              </a:rPr>
              <a:t>unnecessary</a:t>
            </a:r>
            <a:r>
              <a:rPr lang="en" sz="1500">
                <a:solidFill>
                  <a:schemeClr val="lt2"/>
                </a:solidFill>
              </a:rPr>
              <a:t> data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Method: Delta Encoding</a:t>
            </a:r>
            <a:endParaRPr b="1"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Computes difference between consecutive time steps (Δ signal)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Spike generated if change exceeds threshold of 0.09</a:t>
            </a:r>
            <a:endParaRPr sz="1500">
              <a:solidFill>
                <a:schemeClr val="lt2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○"/>
            </a:pPr>
            <a:r>
              <a:rPr lang="en" sz="1500">
                <a:solidFill>
                  <a:schemeClr val="lt2"/>
                </a:solidFill>
              </a:rPr>
              <a:t>+1 → significant increase</a:t>
            </a:r>
            <a:endParaRPr sz="1500">
              <a:solidFill>
                <a:schemeClr val="lt2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○"/>
            </a:pPr>
            <a:r>
              <a:rPr lang="en" sz="1500">
                <a:solidFill>
                  <a:schemeClr val="lt2"/>
                </a:solidFill>
              </a:rPr>
              <a:t>–1 → significant decrease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Why Delta Encoding?</a:t>
            </a:r>
            <a:endParaRPr b="1"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Lower spike density → reduced computational load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Captures dynamic signal changes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Improves temporal representation of EEG features</a:t>
            </a:r>
            <a:endParaRPr sz="1500">
              <a:solidFill>
                <a:schemeClr val="lt2"/>
              </a:solidFill>
            </a:endParaRPr>
          </a:p>
        </p:txBody>
      </p:sp>
      <p:pic>
        <p:nvPicPr>
          <p:cNvPr id="196" name="Google Shape;19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0650" y="159000"/>
            <a:ext cx="2834640" cy="2418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0650" y="2654075"/>
            <a:ext cx="2834640" cy="2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311700" y="445025"/>
            <a:ext cx="50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SNN </a:t>
            </a:r>
            <a:r>
              <a:rPr lang="en"/>
              <a:t>Architecture</a:t>
            </a:r>
            <a:endParaRPr/>
          </a:p>
        </p:txBody>
      </p:sp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393350" y="1060375"/>
            <a:ext cx="4883400" cy="39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2"/>
                </a:solidFill>
              </a:rPr>
              <a:t>Purpose</a:t>
            </a:r>
            <a:endParaRPr b="1"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lang="en" sz="1600">
                <a:solidFill>
                  <a:schemeClr val="lt2"/>
                </a:solidFill>
              </a:rPr>
              <a:t>Classify signal as P300 or non-P300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2"/>
                </a:solidFill>
              </a:rPr>
              <a:t>Structure</a:t>
            </a:r>
            <a:endParaRPr b="1"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lang="en" sz="1600">
                <a:solidFill>
                  <a:schemeClr val="lt2"/>
                </a:solidFill>
              </a:rPr>
              <a:t>Fully Connected layers [8-&gt;128-&gt;64-&gt;2]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lang="en" sz="1600">
                <a:solidFill>
                  <a:schemeClr val="lt2"/>
                </a:solidFill>
              </a:rPr>
              <a:t>LIF neurons: Integrate incoming spikes, Membrane leak over time, Fire when threshold is reached</a:t>
            </a:r>
            <a:endParaRPr sz="1600">
              <a:solidFill>
                <a:schemeClr val="lt2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n">
                <a:solidFill>
                  <a:schemeClr val="lt2"/>
                </a:solidFill>
              </a:rPr>
              <a:t>Leak constant (ꞵ): 0.95</a:t>
            </a:r>
            <a:endParaRPr>
              <a:solidFill>
                <a:schemeClr val="lt2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n">
                <a:solidFill>
                  <a:schemeClr val="lt2"/>
                </a:solidFill>
              </a:rPr>
              <a:t>Threshold: 1 mV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2"/>
                </a:solidFill>
              </a:rPr>
              <a:t>Justification</a:t>
            </a:r>
            <a:endParaRPr b="1"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lang="en" sz="1600">
                <a:solidFill>
                  <a:schemeClr val="lt2"/>
                </a:solidFill>
              </a:rPr>
              <a:t>LIF neurons are simple but accurate</a:t>
            </a:r>
            <a:endParaRPr b="1"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lang="en" sz="1600">
                <a:solidFill>
                  <a:schemeClr val="lt2"/>
                </a:solidFill>
              </a:rPr>
              <a:t>Simple implementation for FPGA transfer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lang="en" sz="1600">
                <a:solidFill>
                  <a:schemeClr val="lt2"/>
                </a:solidFill>
              </a:rPr>
              <a:t>Layer sizes allow for parallel computation on FPGA</a:t>
            </a:r>
            <a:endParaRPr sz="1600">
              <a:solidFill>
                <a:schemeClr val="lt2"/>
              </a:solidFill>
            </a:endParaRPr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8002" y="309875"/>
            <a:ext cx="3402000" cy="243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1650" y="3112600"/>
            <a:ext cx="2154700" cy="16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8"/>
          <p:cNvSpPr txBox="1"/>
          <p:nvPr/>
        </p:nvSpPr>
        <p:spPr>
          <a:xfrm>
            <a:off x="5306900" y="2689463"/>
            <a:ext cx="34842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Fully connected SNN. </a:t>
            </a:r>
            <a:r>
              <a:rPr lang="en" sz="1000">
                <a:solidFill>
                  <a:srgbClr val="F4CCCC"/>
                </a:solidFill>
                <a:latin typeface="Average"/>
                <a:ea typeface="Average"/>
                <a:cs typeface="Average"/>
                <a:sym typeface="Average"/>
              </a:rPr>
              <a:t>Pink: </a:t>
            </a: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input features, </a:t>
            </a:r>
            <a:r>
              <a:rPr lang="en" sz="1000">
                <a:solidFill>
                  <a:srgbClr val="A4C2F4"/>
                </a:solidFill>
                <a:latin typeface="Average"/>
                <a:ea typeface="Average"/>
                <a:cs typeface="Average"/>
                <a:sym typeface="Average"/>
              </a:rPr>
              <a:t>Blue:</a:t>
            </a: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LIF neurons</a:t>
            </a:r>
            <a:endParaRPr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5886050" y="4681025"/>
            <a:ext cx="23259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LIF neuron graphical representation [4]</a:t>
            </a:r>
            <a:endParaRPr i="1"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9" name="Google Shape;209;p2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SNN Training &amp; Hyperparameters</a:t>
            </a:r>
            <a:endParaRPr/>
          </a:p>
        </p:txBody>
      </p:sp>
      <p:sp>
        <p:nvSpPr>
          <p:cNvPr id="215" name="Google Shape;215;p29"/>
          <p:cNvSpPr txBox="1"/>
          <p:nvPr>
            <p:ph idx="1" type="body"/>
          </p:nvPr>
        </p:nvSpPr>
        <p:spPr>
          <a:xfrm>
            <a:off x="311700" y="1162050"/>
            <a:ext cx="4861800" cy="37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Training Structure</a:t>
            </a:r>
            <a:endParaRPr b="1"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Surrogate Gradient Descent (SGD) and Backpropagation through time (BPTT)</a:t>
            </a:r>
            <a:endParaRPr>
              <a:solidFill>
                <a:schemeClr val="l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n">
                <a:solidFill>
                  <a:schemeClr val="lt2"/>
                </a:solidFill>
              </a:rPr>
              <a:t>Surrogate Gradient: Fast Sigmoid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Loss: Weighted Cross Entropy Loss on output Spike Rate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Dropout rate of 0.1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Adam optimizer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Learning rate: 5e-4 + scheduler monitoring validation loss plateau</a:t>
            </a:r>
            <a:endParaRPr>
              <a:solidFill>
                <a:schemeClr val="lt2"/>
              </a:solidFill>
            </a:endParaRPr>
          </a:p>
        </p:txBody>
      </p:sp>
      <p:graphicFrame>
        <p:nvGraphicFramePr>
          <p:cNvPr id="216" name="Google Shape;216;p29"/>
          <p:cNvGraphicFramePr/>
          <p:nvPr/>
        </p:nvGraphicFramePr>
        <p:xfrm>
          <a:off x="5289850" y="92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{F5AB82CF-F9A9-40E9-95CC-0FA6DCF1D37F}</a:tableStyleId>
              </a:tblPr>
              <a:tblGrid>
                <a:gridCol w="1104900"/>
                <a:gridCol w="1200150"/>
                <a:gridCol w="8953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Final Design Selection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 hMerge="1"/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Preprocessing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Filter Range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0.5-15Hz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Feature Extraction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Downsample Factor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Time Window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200-400ms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Delta Encoding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Threshold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0.09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LIF Neurons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Decay Constant (ꞵ)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0.95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Threshold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SNN Architecture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Hidden Layer Sizes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[128, 64]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Dropout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0.1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Training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Surrogate Gradient Constant (k)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Batch Size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256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Epochs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100</a:t>
                      </a:r>
                      <a:endParaRPr sz="1200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0" marB="0" marR="25400" marL="25400" anchor="ctr">
                    <a:lnL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7" name="Google Shape;217;p2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Validation</a:t>
            </a:r>
            <a:endParaRPr/>
          </a:p>
        </p:txBody>
      </p:sp>
      <p:sp>
        <p:nvSpPr>
          <p:cNvPr id="223" name="Google Shape;223;p30"/>
          <p:cNvSpPr txBox="1"/>
          <p:nvPr>
            <p:ph idx="1" type="body"/>
          </p:nvPr>
        </p:nvSpPr>
        <p:spPr>
          <a:xfrm>
            <a:off x="620925" y="3157538"/>
            <a:ext cx="3598200" cy="4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Avg output spike rate: 0.4078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224" name="Google Shape;22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25" y="1053250"/>
            <a:ext cx="2681759" cy="206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6825" y="1053244"/>
            <a:ext cx="2590350" cy="2060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4225" y="1070495"/>
            <a:ext cx="2590350" cy="20257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7" name="Google Shape;227;p30"/>
          <p:cNvGraphicFramePr/>
          <p:nvPr/>
        </p:nvGraphicFramePr>
        <p:xfrm>
          <a:off x="620925" y="369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{DB18B035-4B8D-4A82-BD8B-347EC4CFC0C5}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Loss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Accuracy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Balanced Accuracy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Training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0.6491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64.45%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62.92%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Validation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0.6557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62.84%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61.12%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Testing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0</a:t>
                      </a: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.6629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62.50%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59.90%</a:t>
                      </a:r>
                      <a:endParaRPr sz="12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4845000" y="3157538"/>
            <a:ext cx="3598200" cy="4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Avg membrane max: 29.6930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 Selection</a:t>
            </a:r>
            <a:endParaRPr/>
          </a:p>
        </p:txBody>
      </p:sp>
      <p:sp>
        <p:nvSpPr>
          <p:cNvPr id="235" name="Google Shape;235;p31"/>
          <p:cNvSpPr txBox="1"/>
          <p:nvPr>
            <p:ph idx="1" type="body"/>
          </p:nvPr>
        </p:nvSpPr>
        <p:spPr>
          <a:xfrm>
            <a:off x="311700" y="1017725"/>
            <a:ext cx="5529000" cy="38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Probability Calculation</a:t>
            </a:r>
            <a:endParaRPr b="1" sz="15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Each individual </a:t>
            </a:r>
            <a:r>
              <a:rPr lang="en" sz="1400">
                <a:solidFill>
                  <a:schemeClr val="lt2"/>
                </a:solidFill>
              </a:rPr>
              <a:t>flash</a:t>
            </a:r>
            <a:r>
              <a:rPr lang="en" sz="1400">
                <a:solidFill>
                  <a:schemeClr val="lt2"/>
                </a:solidFill>
              </a:rPr>
              <a:t> is pre-processed and completes SNN P300 identification.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Output is 3D tensor array for either positive or negative P300 signal.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Due to outside noise, output can have four options:</a:t>
            </a:r>
            <a:endParaRPr sz="1400">
              <a:solidFill>
                <a:schemeClr val="lt2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n">
                <a:solidFill>
                  <a:schemeClr val="lt2"/>
                </a:solidFill>
              </a:rPr>
              <a:t>(0,0): Response is NOT non-P300 and  NOT P300 positive</a:t>
            </a:r>
            <a:endParaRPr>
              <a:solidFill>
                <a:schemeClr val="lt2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n">
                <a:solidFill>
                  <a:schemeClr val="lt2"/>
                </a:solidFill>
              </a:rPr>
              <a:t>(1,0): Response is non-P300 but NOT P300 positive</a:t>
            </a:r>
            <a:endParaRPr>
              <a:solidFill>
                <a:schemeClr val="lt2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n">
                <a:solidFill>
                  <a:schemeClr val="lt2"/>
                </a:solidFill>
              </a:rPr>
              <a:t>(0,1): Response is NOT non- P300 BUT P300 positive</a:t>
            </a:r>
            <a:endParaRPr>
              <a:solidFill>
                <a:schemeClr val="lt2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n">
                <a:solidFill>
                  <a:schemeClr val="lt2"/>
                </a:solidFill>
              </a:rPr>
              <a:t>(1,1): Response is both non-P300 and P300 positive</a:t>
            </a:r>
            <a:endParaRPr>
              <a:solidFill>
                <a:schemeClr val="lt2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Calculate the m</a:t>
            </a:r>
            <a:r>
              <a:rPr lang="en" sz="1400">
                <a:solidFill>
                  <a:schemeClr val="lt2"/>
                </a:solidFill>
              </a:rPr>
              <a:t>ean spike rate of positive P300 hits across timesteps to find probability percent value.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This probability percent calculation is only for the first flash.</a:t>
            </a:r>
            <a:endParaRPr sz="1400">
              <a:solidFill>
                <a:schemeClr val="lt2"/>
              </a:solidFill>
            </a:endParaRPr>
          </a:p>
        </p:txBody>
      </p:sp>
      <p:pic>
        <p:nvPicPr>
          <p:cNvPr id="236" name="Google Shape;23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2400" y="762000"/>
            <a:ext cx="28765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 Selection</a:t>
            </a:r>
            <a:endParaRPr/>
          </a:p>
        </p:txBody>
      </p:sp>
      <p:sp>
        <p:nvSpPr>
          <p:cNvPr id="243" name="Google Shape;243;p32"/>
          <p:cNvSpPr txBox="1"/>
          <p:nvPr>
            <p:ph idx="1" type="body"/>
          </p:nvPr>
        </p:nvSpPr>
        <p:spPr>
          <a:xfrm>
            <a:off x="311700" y="1017725"/>
            <a:ext cx="8178600" cy="14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Probability Calculation</a:t>
            </a:r>
            <a:endParaRPr b="1" sz="15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The </a:t>
            </a:r>
            <a:r>
              <a:rPr lang="en" sz="1400">
                <a:solidFill>
                  <a:schemeClr val="lt2"/>
                </a:solidFill>
              </a:rPr>
              <a:t>probability</a:t>
            </a:r>
            <a:r>
              <a:rPr lang="en" sz="1400">
                <a:solidFill>
                  <a:schemeClr val="lt2"/>
                </a:solidFill>
              </a:rPr>
              <a:t> calculation is completed for the twelve flashes of the 6 by 6 matrix (six individual row flashes and six individual column flashes).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In theory, there should only be one positive P300 row and one positive P300 column.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➢"/>
            </a:pPr>
            <a:r>
              <a:rPr lang="en" sz="1400">
                <a:solidFill>
                  <a:schemeClr val="lt2"/>
                </a:solidFill>
              </a:rPr>
              <a:t>The 12 flashes required are then repeated a total of 15 times to help improve </a:t>
            </a:r>
            <a:r>
              <a:rPr lang="en" sz="1400">
                <a:solidFill>
                  <a:schemeClr val="lt2"/>
                </a:solidFill>
              </a:rPr>
              <a:t>accuracy</a:t>
            </a:r>
            <a:r>
              <a:rPr lang="en" sz="1400">
                <a:solidFill>
                  <a:schemeClr val="lt2"/>
                </a:solidFill>
              </a:rPr>
              <a:t> and eliminate noise factor influence (total of 180 flashes).</a:t>
            </a:r>
            <a:endParaRPr sz="1400">
              <a:solidFill>
                <a:schemeClr val="lt2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2"/>
              </a:solidFill>
            </a:endParaRPr>
          </a:p>
        </p:txBody>
      </p:sp>
      <p:pic>
        <p:nvPicPr>
          <p:cNvPr id="244" name="Google Shape;24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8925" y="2479925"/>
            <a:ext cx="5943600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 Selection</a:t>
            </a:r>
            <a:endParaRPr/>
          </a:p>
        </p:txBody>
      </p:sp>
      <p:sp>
        <p:nvSpPr>
          <p:cNvPr id="251" name="Google Shape;251;p33"/>
          <p:cNvSpPr txBox="1"/>
          <p:nvPr>
            <p:ph idx="1" type="body"/>
          </p:nvPr>
        </p:nvSpPr>
        <p:spPr>
          <a:xfrm>
            <a:off x="311700" y="1017725"/>
            <a:ext cx="5529000" cy="38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Probability Calculation</a:t>
            </a:r>
            <a:endParaRPr b="1"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Each individual row and column flashed 15 times separately. The P300 positive probability is summed for each flash</a:t>
            </a:r>
            <a:r>
              <a:rPr lang="en" sz="1500">
                <a:solidFill>
                  <a:schemeClr val="lt2"/>
                </a:solidFill>
              </a:rPr>
              <a:t>.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The character selection is the intersection of the highest probability summation row with the highest </a:t>
            </a:r>
            <a:r>
              <a:rPr lang="en" sz="1500">
                <a:solidFill>
                  <a:schemeClr val="lt2"/>
                </a:solidFill>
              </a:rPr>
              <a:t>probability</a:t>
            </a:r>
            <a:r>
              <a:rPr lang="en" sz="1500">
                <a:solidFill>
                  <a:schemeClr val="lt2"/>
                </a:solidFill>
              </a:rPr>
              <a:t> summation column.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The main improvement is only requiring twelve flashes with column/row intersection instead of thirty-six individual flashes</a:t>
            </a:r>
            <a:r>
              <a:rPr lang="en" sz="1500">
                <a:solidFill>
                  <a:schemeClr val="lt2"/>
                </a:solidFill>
              </a:rPr>
              <a:t> [1].</a:t>
            </a:r>
            <a:endParaRPr sz="1500">
              <a:solidFill>
                <a:schemeClr val="lt2"/>
              </a:solidFill>
            </a:endParaRPr>
          </a:p>
        </p:txBody>
      </p:sp>
      <p:pic>
        <p:nvPicPr>
          <p:cNvPr id="252" name="Google Shape;25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7800" y="73400"/>
            <a:ext cx="3476200" cy="215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0700" y="2228325"/>
            <a:ext cx="3135326" cy="232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Field Programmable Gate Array (FPGA) Implementation Overview</a:t>
            </a:r>
            <a:endParaRPr/>
          </a:p>
        </p:txBody>
      </p:sp>
      <p:sp>
        <p:nvSpPr>
          <p:cNvPr id="260" name="Google Shape;260;p34"/>
          <p:cNvSpPr txBox="1"/>
          <p:nvPr>
            <p:ph idx="1" type="body"/>
          </p:nvPr>
        </p:nvSpPr>
        <p:spPr>
          <a:xfrm>
            <a:off x="4451900" y="1180252"/>
            <a:ext cx="4617900" cy="22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 sz="1900">
                <a:solidFill>
                  <a:schemeClr val="lt2"/>
                </a:solidFill>
              </a:rPr>
              <a:t>I</a:t>
            </a:r>
            <a:r>
              <a:rPr lang="en" sz="1700">
                <a:solidFill>
                  <a:schemeClr val="lt2"/>
                </a:solidFill>
              </a:rPr>
              <a:t>nput spike vectors are stored in read-only memory (ROM)</a:t>
            </a:r>
            <a:endParaRPr sz="1700">
              <a:solidFill>
                <a:schemeClr val="lt2"/>
              </a:solidFill>
            </a:endParaRPr>
          </a:p>
          <a:p>
            <a:pPr indent="-327978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65"/>
              <a:buChar char="➢"/>
            </a:pPr>
            <a:r>
              <a:rPr lang="en" sz="1700">
                <a:solidFill>
                  <a:schemeClr val="lt2"/>
                </a:solidFill>
              </a:rPr>
              <a:t>Weights are initialized using .coe files</a:t>
            </a:r>
            <a:endParaRPr sz="1700">
              <a:solidFill>
                <a:schemeClr val="lt2"/>
              </a:solidFill>
            </a:endParaRPr>
          </a:p>
          <a:p>
            <a:pPr indent="-327978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65"/>
              <a:buChar char="➢"/>
            </a:pPr>
            <a:r>
              <a:rPr lang="en" sz="1700">
                <a:solidFill>
                  <a:schemeClr val="lt2"/>
                </a:solidFill>
              </a:rPr>
              <a:t>Clock driven, synchronous </a:t>
            </a:r>
            <a:r>
              <a:rPr lang="en" sz="1700">
                <a:solidFill>
                  <a:schemeClr val="lt2"/>
                </a:solidFill>
              </a:rPr>
              <a:t>architecture</a:t>
            </a:r>
            <a:r>
              <a:rPr lang="en" sz="1700">
                <a:solidFill>
                  <a:schemeClr val="lt2"/>
                </a:solidFill>
              </a:rPr>
              <a:t> </a:t>
            </a:r>
            <a:endParaRPr sz="1700">
              <a:solidFill>
                <a:schemeClr val="lt2"/>
              </a:solidFill>
            </a:endParaRPr>
          </a:p>
          <a:p>
            <a:pPr indent="-327978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65"/>
              <a:buChar char="➢"/>
            </a:pPr>
            <a:r>
              <a:rPr lang="en" sz="1700">
                <a:solidFill>
                  <a:schemeClr val="lt2"/>
                </a:solidFill>
              </a:rPr>
              <a:t>Output spikes verified in simulation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261" name="Google Shape;261;p34"/>
          <p:cNvSpPr/>
          <p:nvPr/>
        </p:nvSpPr>
        <p:spPr>
          <a:xfrm>
            <a:off x="363200" y="1180250"/>
            <a:ext cx="39558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Three Layer Connection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62" name="Google Shape;262;p34"/>
          <p:cNvSpPr/>
          <p:nvPr/>
        </p:nvSpPr>
        <p:spPr>
          <a:xfrm>
            <a:off x="178925" y="2547050"/>
            <a:ext cx="13293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verage"/>
                <a:ea typeface="Average"/>
                <a:cs typeface="Average"/>
                <a:sym typeface="Average"/>
              </a:rPr>
              <a:t>Spikes loaded via .coe</a:t>
            </a:r>
            <a:endParaRPr sz="12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63" name="Google Shape;263;p34"/>
          <p:cNvSpPr/>
          <p:nvPr/>
        </p:nvSpPr>
        <p:spPr>
          <a:xfrm>
            <a:off x="314525" y="3985600"/>
            <a:ext cx="1110600" cy="51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verage"/>
                <a:ea typeface="Average"/>
                <a:cs typeface="Average"/>
                <a:sym typeface="Average"/>
              </a:rPr>
              <a:t>Layer 1 </a:t>
            </a:r>
            <a:endParaRPr sz="11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verage"/>
                <a:ea typeface="Average"/>
                <a:cs typeface="Average"/>
                <a:sym typeface="Average"/>
              </a:rPr>
              <a:t>(hidden layer 1)</a:t>
            </a:r>
            <a:endParaRPr sz="1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64" name="Google Shape;264;p34"/>
          <p:cNvSpPr/>
          <p:nvPr/>
        </p:nvSpPr>
        <p:spPr>
          <a:xfrm>
            <a:off x="5732725" y="3888250"/>
            <a:ext cx="1518600" cy="70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Spikes Outputted [#,#]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65" name="Google Shape;265;p34"/>
          <p:cNvSpPr/>
          <p:nvPr/>
        </p:nvSpPr>
        <p:spPr>
          <a:xfrm>
            <a:off x="763225" y="1836800"/>
            <a:ext cx="231300" cy="626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66" name="Google Shape;266;p34"/>
          <p:cNvSpPr/>
          <p:nvPr/>
        </p:nvSpPr>
        <p:spPr>
          <a:xfrm>
            <a:off x="727925" y="3261526"/>
            <a:ext cx="266700" cy="645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67" name="Google Shape;267;p34"/>
          <p:cNvSpPr/>
          <p:nvPr/>
        </p:nvSpPr>
        <p:spPr>
          <a:xfrm rot="-5400000">
            <a:off x="1530420" y="4056550"/>
            <a:ext cx="273000" cy="317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68" name="Google Shape;268;p34"/>
          <p:cNvSpPr/>
          <p:nvPr/>
        </p:nvSpPr>
        <p:spPr>
          <a:xfrm rot="-5400000">
            <a:off x="5032225" y="3792100"/>
            <a:ext cx="273000" cy="899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69" name="Google Shape;269;p3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4"/>
          <p:cNvSpPr/>
          <p:nvPr/>
        </p:nvSpPr>
        <p:spPr>
          <a:xfrm>
            <a:off x="2225457" y="1816168"/>
            <a:ext cx="231300" cy="2069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71" name="Google Shape;271;p34"/>
          <p:cNvSpPr/>
          <p:nvPr/>
        </p:nvSpPr>
        <p:spPr>
          <a:xfrm>
            <a:off x="1860125" y="3985600"/>
            <a:ext cx="1110600" cy="51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verage"/>
                <a:ea typeface="Average"/>
                <a:cs typeface="Average"/>
                <a:sym typeface="Average"/>
              </a:rPr>
              <a:t>Layer 2 </a:t>
            </a:r>
            <a:endParaRPr sz="11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verage"/>
                <a:ea typeface="Average"/>
                <a:cs typeface="Average"/>
                <a:sym typeface="Average"/>
              </a:rPr>
              <a:t>(hidden layer 2)</a:t>
            </a:r>
            <a:endParaRPr sz="1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72" name="Google Shape;272;p34"/>
          <p:cNvSpPr/>
          <p:nvPr/>
        </p:nvSpPr>
        <p:spPr>
          <a:xfrm>
            <a:off x="3494125" y="3985600"/>
            <a:ext cx="1110600" cy="51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verage"/>
                <a:ea typeface="Average"/>
                <a:cs typeface="Average"/>
                <a:sym typeface="Average"/>
              </a:rPr>
              <a:t>Layer 3</a:t>
            </a:r>
            <a:endParaRPr sz="11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verage"/>
                <a:ea typeface="Average"/>
                <a:cs typeface="Average"/>
                <a:sym typeface="Average"/>
              </a:rPr>
              <a:t>(output layer)</a:t>
            </a:r>
            <a:endParaRPr sz="1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73" name="Google Shape;273;p34"/>
          <p:cNvSpPr/>
          <p:nvPr/>
        </p:nvSpPr>
        <p:spPr>
          <a:xfrm rot="-5400000">
            <a:off x="3056720" y="4083100"/>
            <a:ext cx="273000" cy="317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74" name="Google Shape;274;p34"/>
          <p:cNvSpPr/>
          <p:nvPr/>
        </p:nvSpPr>
        <p:spPr>
          <a:xfrm>
            <a:off x="3872993" y="1838012"/>
            <a:ext cx="231300" cy="2069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FPGA Timing Diagram</a:t>
            </a:r>
            <a:endParaRPr/>
          </a:p>
        </p:txBody>
      </p:sp>
      <p:sp>
        <p:nvSpPr>
          <p:cNvPr id="280" name="Google Shape;280;p35"/>
          <p:cNvSpPr txBox="1"/>
          <p:nvPr>
            <p:ph idx="1" type="body"/>
          </p:nvPr>
        </p:nvSpPr>
        <p:spPr>
          <a:xfrm>
            <a:off x="223975" y="1393213"/>
            <a:ext cx="19269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6708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45"/>
              <a:buFont typeface="Arial"/>
              <a:buChar char="➢"/>
            </a:pPr>
            <a:r>
              <a:rPr lang="en" sz="1500">
                <a:solidFill>
                  <a:schemeClr val="lt2"/>
                </a:solidFill>
              </a:rPr>
              <a:t>Displayed neuron/ membrane potential evolution over a single timestep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➢"/>
            </a:pPr>
            <a:r>
              <a:rPr lang="en" sz="1500">
                <a:solidFill>
                  <a:schemeClr val="lt2"/>
                </a:solidFill>
              </a:rPr>
              <a:t>Simulation run </a:t>
            </a:r>
            <a:r>
              <a:rPr lang="en" sz="1500">
                <a:solidFill>
                  <a:schemeClr val="lt2"/>
                </a:solidFill>
              </a:rPr>
              <a:t>continuously</a:t>
            </a:r>
            <a:r>
              <a:rPr lang="en" sz="1500">
                <a:solidFill>
                  <a:schemeClr val="lt2"/>
                </a:solidFill>
              </a:rPr>
              <a:t> to visualize layer-by-layer</a:t>
            </a:r>
            <a:endParaRPr sz="1500">
              <a:solidFill>
                <a:schemeClr val="lt2"/>
              </a:solidFill>
            </a:endParaRPr>
          </a:p>
        </p:txBody>
      </p:sp>
      <p:sp>
        <p:nvSpPr>
          <p:cNvPr id="281" name="Google Shape;281;p35"/>
          <p:cNvSpPr/>
          <p:nvPr/>
        </p:nvSpPr>
        <p:spPr>
          <a:xfrm>
            <a:off x="2238600" y="1153525"/>
            <a:ext cx="6593700" cy="341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282" name="Google Shape;282;p35" title="Timestep1_FINA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8600" y="1153525"/>
            <a:ext cx="6593700" cy="374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5"/>
          <p:cNvSpPr txBox="1"/>
          <p:nvPr>
            <p:ph idx="1" type="body"/>
          </p:nvPr>
        </p:nvSpPr>
        <p:spPr>
          <a:xfrm>
            <a:off x="5568175" y="677575"/>
            <a:ext cx="2928000" cy="4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45">
                <a:solidFill>
                  <a:schemeClr val="lt2"/>
                </a:solidFill>
              </a:rPr>
              <a:t>Bias: Layer 1 - 5, Layer 2 - 14, Layer 3 - 11</a:t>
            </a:r>
            <a:endParaRPr sz="1500">
              <a:solidFill>
                <a:schemeClr val="lt2"/>
              </a:solidFill>
            </a:endParaRPr>
          </a:p>
        </p:txBody>
      </p:sp>
      <p:sp>
        <p:nvSpPr>
          <p:cNvPr id="284" name="Google Shape;284;p3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FPGA Implementation - Execution and Validation</a:t>
            </a:r>
            <a:endParaRPr/>
          </a:p>
        </p:txBody>
      </p:sp>
      <p:sp>
        <p:nvSpPr>
          <p:cNvPr id="290" name="Google Shape;290;p36"/>
          <p:cNvSpPr txBox="1"/>
          <p:nvPr>
            <p:ph idx="1" type="body"/>
          </p:nvPr>
        </p:nvSpPr>
        <p:spPr>
          <a:xfrm>
            <a:off x="311700" y="1072275"/>
            <a:ext cx="5580300" cy="27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45">
                <a:solidFill>
                  <a:schemeClr val="lt2"/>
                </a:solidFill>
              </a:rPr>
              <a:t>FPGA </a:t>
            </a:r>
            <a:r>
              <a:rPr b="1" lang="en" sz="1545">
                <a:solidFill>
                  <a:schemeClr val="lt2"/>
                </a:solidFill>
              </a:rPr>
              <a:t>Architecture</a:t>
            </a:r>
            <a:r>
              <a:rPr b="1" lang="en" sz="1545">
                <a:solidFill>
                  <a:schemeClr val="lt2"/>
                </a:solidFill>
              </a:rPr>
              <a:t> </a:t>
            </a:r>
            <a:endParaRPr sz="1545">
              <a:solidFill>
                <a:schemeClr val="lt2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Input spike samples are streamed from ROM, with one timestep (TS) processed per clock cycle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Internal logic control tracks the TS index and manage layer synchronization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Neurons perform parallel multiply-</a:t>
            </a:r>
            <a:r>
              <a:rPr lang="en" sz="1500">
                <a:solidFill>
                  <a:schemeClr val="lt2"/>
                </a:solidFill>
              </a:rPr>
              <a:t>accumulate (MAC) </a:t>
            </a:r>
            <a:r>
              <a:rPr lang="en" sz="1500">
                <a:solidFill>
                  <a:schemeClr val="lt2"/>
                </a:solidFill>
              </a:rPr>
              <a:t>operation</a:t>
            </a:r>
            <a:r>
              <a:rPr lang="en" sz="1645">
                <a:solidFill>
                  <a:schemeClr val="lt2"/>
                </a:solidFill>
              </a:rPr>
              <a:t>s using fixed point arithmetic </a:t>
            </a:r>
            <a:endParaRPr sz="1645">
              <a:solidFill>
                <a:schemeClr val="lt2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5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45">
                <a:solidFill>
                  <a:schemeClr val="lt2"/>
                </a:solidFill>
              </a:rPr>
              <a:t>Validation Approach</a:t>
            </a:r>
            <a:endParaRPr b="1" sz="1545">
              <a:solidFill>
                <a:schemeClr val="lt2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Step by step neuron behavior validated with Excel reference model (membrane potentials, currents, </a:t>
            </a:r>
            <a:r>
              <a:rPr lang="en" sz="1500">
                <a:solidFill>
                  <a:schemeClr val="lt2"/>
                </a:solidFill>
              </a:rPr>
              <a:t>accumulation)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Layer and timestep-specific outputs compared with CPU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Correct spike </a:t>
            </a:r>
            <a:r>
              <a:rPr lang="en" sz="1500">
                <a:solidFill>
                  <a:schemeClr val="lt2"/>
                </a:solidFill>
              </a:rPr>
              <a:t>alignment</a:t>
            </a:r>
            <a:r>
              <a:rPr lang="en" sz="1500">
                <a:solidFill>
                  <a:schemeClr val="lt2"/>
                </a:solidFill>
              </a:rPr>
              <a:t> observed in 16/34 timesteps, discrepancies likely from latency and scaling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*1 Subject Character Selection </a:t>
            </a:r>
            <a:r>
              <a:rPr lang="en" sz="1500">
                <a:solidFill>
                  <a:schemeClr val="lt2"/>
                </a:solidFill>
              </a:rPr>
              <a:t>Accuracy</a:t>
            </a:r>
            <a:r>
              <a:rPr lang="en" sz="1500">
                <a:solidFill>
                  <a:schemeClr val="lt2"/>
                </a:solidFill>
              </a:rPr>
              <a:t>: 4.8%</a:t>
            </a:r>
            <a:endParaRPr sz="1500">
              <a:solidFill>
                <a:schemeClr val="lt2"/>
              </a:solidFill>
            </a:endParaRPr>
          </a:p>
        </p:txBody>
      </p:sp>
      <p:graphicFrame>
        <p:nvGraphicFramePr>
          <p:cNvPr id="291" name="Google Shape;291;p36"/>
          <p:cNvGraphicFramePr/>
          <p:nvPr/>
        </p:nvGraphicFramePr>
        <p:xfrm>
          <a:off x="58920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{9E8893E1-D91B-430F-8760-7C6349B9AFAD}</a:tableStyleId>
              </a:tblPr>
              <a:tblGrid>
                <a:gridCol w="911400"/>
                <a:gridCol w="911400"/>
                <a:gridCol w="911400"/>
              </a:tblGrid>
              <a:tr h="2277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Output Comparison 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</a:tr>
              <a:tr h="35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Timestep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Expected (CPU)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Actual (FPGA)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</a:tr>
              <a:tr h="22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 ✓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[0, 0]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[0, 0]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</a:tr>
              <a:tr h="22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2 ✓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[0, 1]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[0, 1]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</a:tr>
              <a:tr h="22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3 ✓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[0, 0]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[0, 0]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</a:tr>
              <a:tr h="22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4 ✓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[0, 0]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[0, 0]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</a:tr>
              <a:tr h="22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5 ✓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[0, 0]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[0, 0]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</a:tr>
              <a:tr h="22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6 ✗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[0, 0]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[0, 1]</a:t>
                      </a:r>
                      <a:endParaRPr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2" name="Google Shape;292;p36"/>
          <p:cNvSpPr txBox="1"/>
          <p:nvPr/>
        </p:nvSpPr>
        <p:spPr>
          <a:xfrm>
            <a:off x="5810325" y="4400675"/>
            <a:ext cx="29835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3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Decent </a:t>
            </a:r>
            <a:r>
              <a:rPr lang="en" sz="113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accuracy</a:t>
            </a:r>
            <a:r>
              <a:rPr lang="en" sz="113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established </a:t>
            </a:r>
            <a:r>
              <a:rPr lang="en" sz="113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through</a:t>
            </a:r>
            <a:r>
              <a:rPr lang="en" sz="113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34 time steps, first six shown in table.</a:t>
            </a:r>
            <a:endParaRPr sz="113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93" name="Google Shape;293;p3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FPGA Implementation - Utilization</a:t>
            </a:r>
            <a:endParaRPr/>
          </a:p>
        </p:txBody>
      </p:sp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311700" y="1692063"/>
            <a:ext cx="3869100" cy="20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45">
                <a:solidFill>
                  <a:schemeClr val="lt2"/>
                </a:solidFill>
              </a:rPr>
              <a:t>FPGA Utilization &amp; Resources </a:t>
            </a:r>
            <a:endParaRPr sz="1545">
              <a:solidFill>
                <a:schemeClr val="lt2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Majority of usage in look-up tables due to parallel neuron computation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Minimal digital signal processing utilization (&lt;1%) due to coding method selected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Available resources indicate remaining capacity to </a:t>
            </a:r>
            <a:r>
              <a:rPr lang="en" sz="1500">
                <a:solidFill>
                  <a:schemeClr val="lt2"/>
                </a:solidFill>
              </a:rPr>
              <a:t>expand network size in future</a:t>
            </a:r>
            <a:endParaRPr sz="1500">
              <a:solidFill>
                <a:schemeClr val="lt2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5">
              <a:solidFill>
                <a:schemeClr val="lt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</a:endParaRPr>
          </a:p>
        </p:txBody>
      </p:sp>
      <p:pic>
        <p:nvPicPr>
          <p:cNvPr id="300" name="Google Shape;30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0800" y="1220925"/>
            <a:ext cx="4658401" cy="3037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 Implementation</a:t>
            </a:r>
            <a:endParaRPr/>
          </a:p>
        </p:txBody>
      </p:sp>
      <p:sp>
        <p:nvSpPr>
          <p:cNvPr id="307" name="Google Shape;307;p38"/>
          <p:cNvSpPr txBox="1"/>
          <p:nvPr>
            <p:ph idx="1" type="body"/>
          </p:nvPr>
        </p:nvSpPr>
        <p:spPr>
          <a:xfrm>
            <a:off x="265200" y="1734000"/>
            <a:ext cx="2210100" cy="22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lang="en" sz="1600">
                <a:solidFill>
                  <a:schemeClr val="lt2"/>
                </a:solidFill>
              </a:rPr>
              <a:t>Command line demo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lang="en" sz="1600">
                <a:solidFill>
                  <a:schemeClr val="lt2"/>
                </a:solidFill>
              </a:rPr>
              <a:t>Loads desired character EEG data and outputs selected character from our system</a:t>
            </a:r>
            <a:endParaRPr sz="1600">
              <a:solidFill>
                <a:schemeClr val="lt2"/>
              </a:solidFill>
            </a:endParaRPr>
          </a:p>
        </p:txBody>
      </p:sp>
      <p:pic>
        <p:nvPicPr>
          <p:cNvPr id="308" name="Google Shape;308;p38" title="pipeline_vid_new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5300" y="1147725"/>
            <a:ext cx="6668698" cy="3751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09" name="Google Shape;309;p3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Evaluation</a:t>
            </a:r>
            <a:endParaRPr/>
          </a:p>
        </p:txBody>
      </p:sp>
      <p:sp>
        <p:nvSpPr>
          <p:cNvPr id="315" name="Google Shape;315;p3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 Selection Accuracy</a:t>
            </a:r>
            <a:endParaRPr/>
          </a:p>
        </p:txBody>
      </p:sp>
      <p:sp>
        <p:nvSpPr>
          <p:cNvPr id="321" name="Google Shape;321;p40"/>
          <p:cNvSpPr txBox="1"/>
          <p:nvPr>
            <p:ph idx="1" type="body"/>
          </p:nvPr>
        </p:nvSpPr>
        <p:spPr>
          <a:xfrm>
            <a:off x="311700" y="1152475"/>
            <a:ext cx="2993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Final CPU Accuracy:</a:t>
            </a:r>
            <a:endParaRPr b="1"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48.31 ± 22.15%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Random weight Classifier:</a:t>
            </a:r>
            <a:endParaRPr b="1"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9.35 </a:t>
            </a:r>
            <a:r>
              <a:rPr lang="en">
                <a:solidFill>
                  <a:schemeClr val="lt2"/>
                </a:solidFill>
              </a:rPr>
              <a:t>± 8.69%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Significance</a:t>
            </a:r>
            <a:endParaRPr b="1"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Paired t-test:</a:t>
            </a:r>
            <a:endParaRPr>
              <a:solidFill>
                <a:schemeClr val="l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n">
                <a:solidFill>
                  <a:schemeClr val="lt2"/>
                </a:solidFill>
              </a:rPr>
              <a:t>p=8.85e-20 &lt;&lt;&lt; 0.05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Accuracy is significantly above random baseline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322" name="Google Shape;3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4725" y="1152475"/>
            <a:ext cx="5734225" cy="34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Energy </a:t>
            </a:r>
            <a:endParaRPr/>
          </a:p>
        </p:txBody>
      </p:sp>
      <p:sp>
        <p:nvSpPr>
          <p:cNvPr id="329" name="Google Shape;329;p41"/>
          <p:cNvSpPr txBox="1"/>
          <p:nvPr>
            <p:ph idx="1" type="body"/>
          </p:nvPr>
        </p:nvSpPr>
        <p:spPr>
          <a:xfrm>
            <a:off x="311700" y="1017725"/>
            <a:ext cx="4047600" cy="40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2"/>
                </a:solidFill>
              </a:rPr>
              <a:t>Purpose</a:t>
            </a:r>
            <a:endParaRPr b="1"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lang="en" sz="1600">
                <a:solidFill>
                  <a:schemeClr val="lt2"/>
                </a:solidFill>
              </a:rPr>
              <a:t>Calculating the energy of each process quantifies the real cost of each stage of the pipeline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2"/>
                </a:solidFill>
              </a:rPr>
              <a:t>Method</a:t>
            </a:r>
            <a:endParaRPr b="1"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lang="en" sz="1600">
                <a:solidFill>
                  <a:schemeClr val="lt2"/>
                </a:solidFill>
              </a:rPr>
              <a:t>Floating Point Operations FLOPs include addition, subtraction, multiplication or division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lang="en" sz="1600">
                <a:solidFill>
                  <a:schemeClr val="lt2"/>
                </a:solidFill>
              </a:rPr>
              <a:t>Multiplying the number of FLOPs and the energy of each FLOP in Joules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2"/>
                </a:solidFill>
              </a:rPr>
              <a:t>Observations</a:t>
            </a:r>
            <a:endParaRPr b="1"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lang="en" sz="1600">
                <a:solidFill>
                  <a:schemeClr val="lt2"/>
                </a:solidFill>
              </a:rPr>
              <a:t>Preprocessing and SNN development consume the largest amount of computational energy</a:t>
            </a:r>
            <a:endParaRPr sz="1600">
              <a:solidFill>
                <a:schemeClr val="lt2"/>
              </a:solidFill>
            </a:endParaRPr>
          </a:p>
        </p:txBody>
      </p:sp>
      <p:pic>
        <p:nvPicPr>
          <p:cNvPr id="330" name="Google Shape;330;p41" title="Figure 2026-04-18 1528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9275" y="1152475"/>
            <a:ext cx="4473025" cy="3416401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</a:t>
            </a:r>
            <a:endParaRPr/>
          </a:p>
        </p:txBody>
      </p:sp>
      <p:sp>
        <p:nvSpPr>
          <p:cNvPr id="337" name="Google Shape;337;p42"/>
          <p:cNvSpPr txBox="1"/>
          <p:nvPr>
            <p:ph idx="1" type="body"/>
          </p:nvPr>
        </p:nvSpPr>
        <p:spPr>
          <a:xfrm>
            <a:off x="311700" y="1152475"/>
            <a:ext cx="4071900" cy="39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Purpose</a:t>
            </a:r>
            <a:endParaRPr b="1"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Understand how quickly the virtual keyboard will output a character upon EEG input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To meet requirements, the total latency must be below 300ms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Method</a:t>
            </a:r>
            <a:endParaRPr b="1"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The latency is determined by simply recording the time it takes to perform each operation by means of the CPU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Observations</a:t>
            </a:r>
            <a:endParaRPr b="1" sz="15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lang="en" sz="1600">
                <a:solidFill>
                  <a:schemeClr val="lt2"/>
                </a:solidFill>
              </a:rPr>
              <a:t>Total CPU latency: 167 ms</a:t>
            </a:r>
            <a:endParaRPr sz="16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>
                <a:solidFill>
                  <a:schemeClr val="lt2"/>
                </a:solidFill>
              </a:rPr>
              <a:t>Like with energy, preprocessing the data and developing the SNN contribute to the majority of the latency</a:t>
            </a:r>
            <a:endParaRPr/>
          </a:p>
        </p:txBody>
      </p:sp>
      <p:pic>
        <p:nvPicPr>
          <p:cNvPr id="338" name="Google Shape;338;p42" title="Figure 2026-04-18 1539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3475" y="1212300"/>
            <a:ext cx="4569299" cy="3290424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 </a:t>
            </a:r>
            <a:r>
              <a:rPr lang="en"/>
              <a:t>Architecture</a:t>
            </a:r>
            <a:r>
              <a:rPr lang="en"/>
              <a:t> &amp; Training</a:t>
            </a:r>
            <a:endParaRPr/>
          </a:p>
        </p:txBody>
      </p:sp>
      <p:sp>
        <p:nvSpPr>
          <p:cNvPr id="345" name="Google Shape;345;p43"/>
          <p:cNvSpPr txBox="1"/>
          <p:nvPr>
            <p:ph idx="1" type="body"/>
          </p:nvPr>
        </p:nvSpPr>
        <p:spPr>
          <a:xfrm>
            <a:off x="311700" y="1017725"/>
            <a:ext cx="4260300" cy="3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Purpose</a:t>
            </a:r>
            <a:endParaRPr b="1"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</a:rPr>
              <a:t>Used for </a:t>
            </a:r>
            <a:r>
              <a:rPr lang="en" sz="1500">
                <a:solidFill>
                  <a:schemeClr val="lt2"/>
                </a:solidFill>
              </a:rPr>
              <a:t>performance comparison</a:t>
            </a:r>
            <a:r>
              <a:rPr lang="en" sz="1500">
                <a:solidFill>
                  <a:schemeClr val="lt2"/>
                </a:solidFill>
              </a:rPr>
              <a:t> with SNN 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Final Model Setup</a:t>
            </a:r>
            <a:endParaRPr b="1" sz="1500">
              <a:solidFill>
                <a:schemeClr val="lt2"/>
              </a:solidFill>
            </a:endParaRPr>
          </a:p>
          <a:p>
            <a:pPr indent="-232410" lvl="0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Trained on same dataset, </a:t>
            </a:r>
            <a:r>
              <a:rPr lang="en" sz="1500">
                <a:solidFill>
                  <a:schemeClr val="lt2"/>
                </a:solidFill>
              </a:rPr>
              <a:t>preprocessing, and feature extraction </a:t>
            </a:r>
            <a:r>
              <a:rPr lang="en" sz="1500">
                <a:solidFill>
                  <a:schemeClr val="lt2"/>
                </a:solidFill>
              </a:rPr>
              <a:t>as SNN</a:t>
            </a:r>
            <a:endParaRPr sz="1500">
              <a:solidFill>
                <a:schemeClr val="lt2"/>
              </a:solidFill>
            </a:endParaRPr>
          </a:p>
          <a:p>
            <a:pPr indent="-232410" lvl="0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Multilayer Perceptron (MLP) with </a:t>
            </a:r>
            <a:r>
              <a:rPr lang="en" sz="1500">
                <a:solidFill>
                  <a:schemeClr val="lt2"/>
                </a:solidFill>
              </a:rPr>
              <a:t>ReLU Activations</a:t>
            </a:r>
            <a:endParaRPr sz="1500">
              <a:solidFill>
                <a:schemeClr val="lt2"/>
              </a:solidFill>
            </a:endParaRPr>
          </a:p>
          <a:p>
            <a:pPr indent="-232410" lvl="0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Final Hyperparameters:</a:t>
            </a:r>
            <a:endParaRPr sz="1500">
              <a:solidFill>
                <a:schemeClr val="lt2"/>
              </a:solidFill>
            </a:endParaRPr>
          </a:p>
          <a:p>
            <a:pPr indent="-226060" lvl="1" marL="7315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n">
                <a:solidFill>
                  <a:schemeClr val="lt2"/>
                </a:solidFill>
              </a:rPr>
              <a:t>Dropout = 0.1</a:t>
            </a:r>
            <a:endParaRPr>
              <a:solidFill>
                <a:schemeClr val="lt2"/>
              </a:solidFill>
            </a:endParaRPr>
          </a:p>
          <a:p>
            <a:pPr indent="-226060" lvl="1" marL="73152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n">
                <a:solidFill>
                  <a:schemeClr val="lt2"/>
                </a:solidFill>
              </a:rPr>
              <a:t>Batch Size = 256</a:t>
            </a:r>
            <a:endParaRPr>
              <a:solidFill>
                <a:schemeClr val="lt2"/>
              </a:solidFill>
            </a:endParaRPr>
          </a:p>
          <a:p>
            <a:pPr indent="-226060" lvl="1" marL="7315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n">
                <a:solidFill>
                  <a:schemeClr val="lt2"/>
                </a:solidFill>
              </a:rPr>
              <a:t>Hidden Layers = [128, 64]</a:t>
            </a:r>
            <a:endParaRPr>
              <a:solidFill>
                <a:schemeClr val="lt2"/>
              </a:solidFill>
            </a:endParaRPr>
          </a:p>
          <a:p>
            <a:pPr indent="-226060" lvl="1" marL="7315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n">
                <a:solidFill>
                  <a:schemeClr val="lt2"/>
                </a:solidFill>
              </a:rPr>
              <a:t>Epochs = 100</a:t>
            </a:r>
            <a:endParaRPr>
              <a:solidFill>
                <a:schemeClr val="lt2"/>
              </a:solidFill>
            </a:endParaRPr>
          </a:p>
          <a:p>
            <a:pPr indent="-226060" lvl="1" marL="7315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n">
                <a:solidFill>
                  <a:schemeClr val="lt2"/>
                </a:solidFill>
              </a:rPr>
              <a:t>Learning Rate = 1×10-3</a:t>
            </a:r>
            <a:endParaRPr>
              <a:solidFill>
                <a:schemeClr val="lt2"/>
              </a:solidFill>
            </a:endParaRPr>
          </a:p>
          <a:p>
            <a:pPr indent="-226060" lvl="1" marL="7315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n">
                <a:solidFill>
                  <a:schemeClr val="lt2"/>
                </a:solidFill>
              </a:rPr>
              <a:t>Weight Decay</a:t>
            </a:r>
            <a:r>
              <a:rPr lang="en">
                <a:solidFill>
                  <a:schemeClr val="lt2"/>
                </a:solidFill>
              </a:rPr>
              <a:t> =</a:t>
            </a:r>
            <a:r>
              <a:rPr lang="en">
                <a:solidFill>
                  <a:schemeClr val="lt2"/>
                </a:solidFill>
              </a:rPr>
              <a:t> 5×10-4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46" name="Google Shape;346;p43"/>
          <p:cNvSpPr txBox="1"/>
          <p:nvPr>
            <p:ph idx="1" type="body"/>
          </p:nvPr>
        </p:nvSpPr>
        <p:spPr>
          <a:xfrm>
            <a:off x="4572200" y="1017725"/>
            <a:ext cx="4260300" cy="20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Training</a:t>
            </a:r>
            <a:endParaRPr b="1" sz="1500">
              <a:solidFill>
                <a:schemeClr val="lt2"/>
              </a:solidFill>
            </a:endParaRPr>
          </a:p>
          <a:p>
            <a:pPr indent="-232410" lvl="0" marL="36576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Hyperparameters tuned to achieve performance comparable to SNN</a:t>
            </a:r>
            <a:endParaRPr sz="1500">
              <a:solidFill>
                <a:schemeClr val="lt2"/>
              </a:solidFill>
            </a:endParaRPr>
          </a:p>
          <a:p>
            <a:pPr indent="-232410" lvl="0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Monitored:</a:t>
            </a:r>
            <a:endParaRPr sz="1500">
              <a:solidFill>
                <a:schemeClr val="lt2"/>
              </a:solidFill>
            </a:endParaRPr>
          </a:p>
          <a:p>
            <a:pPr indent="-232410" lvl="1" marL="7315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○"/>
            </a:pPr>
            <a:r>
              <a:rPr lang="en" sz="1500">
                <a:solidFill>
                  <a:schemeClr val="lt2"/>
                </a:solidFill>
              </a:rPr>
              <a:t>Accuracy</a:t>
            </a:r>
            <a:endParaRPr sz="1500">
              <a:solidFill>
                <a:schemeClr val="lt2"/>
              </a:solidFill>
            </a:endParaRPr>
          </a:p>
          <a:p>
            <a:pPr indent="-232410" lvl="1" marL="7315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○"/>
            </a:pPr>
            <a:r>
              <a:rPr lang="en" sz="1500">
                <a:solidFill>
                  <a:schemeClr val="lt2"/>
                </a:solidFill>
              </a:rPr>
              <a:t>Balanced Accuracy</a:t>
            </a:r>
            <a:endParaRPr sz="1500">
              <a:solidFill>
                <a:schemeClr val="lt2"/>
              </a:solidFill>
            </a:endParaRPr>
          </a:p>
          <a:p>
            <a:pPr indent="-232410" lvl="1" marL="7315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○"/>
            </a:pPr>
            <a:r>
              <a:rPr lang="en" sz="1500">
                <a:solidFill>
                  <a:schemeClr val="lt2"/>
                </a:solidFill>
              </a:rPr>
              <a:t>Loss (training and validation)</a:t>
            </a:r>
            <a:endParaRPr sz="1500">
              <a:solidFill>
                <a:schemeClr val="lt2"/>
              </a:solidFill>
            </a:endParaRPr>
          </a:p>
        </p:txBody>
      </p:sp>
      <p:graphicFrame>
        <p:nvGraphicFramePr>
          <p:cNvPr id="347" name="Google Shape;347;p43"/>
          <p:cNvGraphicFramePr/>
          <p:nvPr/>
        </p:nvGraphicFramePr>
        <p:xfrm>
          <a:off x="4883300" y="310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{F5AB82CF-F9A9-40E9-95CC-0FA6DCF1D37F}</a:tableStyleId>
              </a:tblPr>
              <a:tblGrid>
                <a:gridCol w="1360900"/>
                <a:gridCol w="730150"/>
                <a:gridCol w="775900"/>
                <a:gridCol w="7711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Accuracy</a:t>
                      </a:r>
                      <a:endParaRPr b="1" sz="1300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Balanced Accuracy</a:t>
                      </a:r>
                      <a:endParaRPr b="1" sz="1300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Loss</a:t>
                      </a:r>
                      <a:endParaRPr b="1" sz="1300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Final Epoch (100)</a:t>
                      </a:r>
                      <a:endParaRPr b="1" sz="1300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73.84%</a:t>
                      </a:r>
                      <a:endParaRPr sz="13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74.56%</a:t>
                      </a:r>
                      <a:endParaRPr sz="13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0.5106</a:t>
                      </a:r>
                      <a:endParaRPr sz="13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Validation Set</a:t>
                      </a:r>
                      <a:endParaRPr b="1" sz="1300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69.64%</a:t>
                      </a:r>
                      <a:endParaRPr sz="13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65.20%</a:t>
                      </a:r>
                      <a:endParaRPr sz="13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0.6574</a:t>
                      </a:r>
                      <a:endParaRPr sz="13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Test Set</a:t>
                      </a:r>
                      <a:endParaRPr b="1" sz="1300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69.26%</a:t>
                      </a:r>
                      <a:endParaRPr sz="13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64.32%</a:t>
                      </a:r>
                      <a:endParaRPr sz="13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0.6724</a:t>
                      </a:r>
                      <a:endParaRPr sz="13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8" name="Google Shape;348;p4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SNN vs. ANN - </a:t>
            </a:r>
            <a:r>
              <a:rPr i="1" lang="en"/>
              <a:t>Energy</a:t>
            </a:r>
            <a:endParaRPr/>
          </a:p>
        </p:txBody>
      </p:sp>
      <p:pic>
        <p:nvPicPr>
          <p:cNvPr id="354" name="Google Shape;354;p44" title="Figure 2026-04-18 1528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2675" y="2155475"/>
            <a:ext cx="2940925" cy="2674551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44"/>
          <p:cNvSpPr txBox="1"/>
          <p:nvPr>
            <p:ph idx="1" type="body"/>
          </p:nvPr>
        </p:nvSpPr>
        <p:spPr>
          <a:xfrm>
            <a:off x="311700" y="1152475"/>
            <a:ext cx="8520600" cy="9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Comparison</a:t>
            </a:r>
            <a:endParaRPr b="1"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SNN uses less energy than ANN, making it computational less expensive</a:t>
            </a:r>
            <a:endParaRPr sz="1500">
              <a:solidFill>
                <a:schemeClr val="lt2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56;p44" title="Figure 2026-04-21 003318.png"/>
          <p:cNvPicPr preferRelativeResize="0"/>
          <p:nvPr/>
        </p:nvPicPr>
        <p:blipFill rotWithShape="1">
          <a:blip r:embed="rId4">
            <a:alphaModFix/>
          </a:blip>
          <a:srcRect b="0" l="0" r="0" t="49008"/>
          <a:stretch/>
        </p:blipFill>
        <p:spPr>
          <a:xfrm>
            <a:off x="4928075" y="2155475"/>
            <a:ext cx="3017724" cy="2674552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SNN vs. ANN - </a:t>
            </a:r>
            <a:r>
              <a:rPr i="1" lang="en"/>
              <a:t>Latency</a:t>
            </a:r>
            <a:endParaRPr/>
          </a:p>
        </p:txBody>
      </p:sp>
      <p:pic>
        <p:nvPicPr>
          <p:cNvPr id="363" name="Google Shape;363;p45" title="Figure 2026-04-18 1539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6375" y="2370125"/>
            <a:ext cx="2940925" cy="246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5"/>
          <p:cNvSpPr txBox="1"/>
          <p:nvPr>
            <p:ph idx="1" type="body"/>
          </p:nvPr>
        </p:nvSpPr>
        <p:spPr>
          <a:xfrm>
            <a:off x="311700" y="1207425"/>
            <a:ext cx="8520600" cy="13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Comparison</a:t>
            </a:r>
            <a:endParaRPr b="1"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Here the ANN occurs much faster, however, the code was ran on a CPU not built to handle spikes in parallel. If running the same SNN code on a device which uses parallel computation like the FPGA, the latency is much lower</a:t>
            </a:r>
            <a:endParaRPr/>
          </a:p>
        </p:txBody>
      </p:sp>
      <p:pic>
        <p:nvPicPr>
          <p:cNvPr id="365" name="Google Shape;365;p45" title="Figure 2026-04-21 003318.png"/>
          <p:cNvPicPr preferRelativeResize="0"/>
          <p:nvPr/>
        </p:nvPicPr>
        <p:blipFill rotWithShape="1">
          <a:blip r:embed="rId4">
            <a:alphaModFix/>
          </a:blip>
          <a:srcRect b="50311" l="0" r="0" t="0"/>
          <a:stretch/>
        </p:blipFill>
        <p:spPr>
          <a:xfrm>
            <a:off x="4942475" y="2370125"/>
            <a:ext cx="2884075" cy="2468949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SNN vs. ANN vs FPGA </a:t>
            </a:r>
            <a:endParaRPr/>
          </a:p>
        </p:txBody>
      </p:sp>
      <p:graphicFrame>
        <p:nvGraphicFramePr>
          <p:cNvPr id="372" name="Google Shape;372;p46"/>
          <p:cNvGraphicFramePr/>
          <p:nvPr/>
        </p:nvGraphicFramePr>
        <p:xfrm>
          <a:off x="715650" y="117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{9E8893E1-D91B-430F-8760-7C6349B9AFAD}</a:tableStyleId>
              </a:tblPr>
              <a:tblGrid>
                <a:gridCol w="1582000"/>
                <a:gridCol w="673375"/>
                <a:gridCol w="721825"/>
                <a:gridCol w="719350"/>
              </a:tblGrid>
              <a:tr h="43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Latency (ms)</a:t>
                      </a:r>
                      <a:endParaRPr b="1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SNN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ANN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FPGA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Preprocessing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95.2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111.2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95.2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Feature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Extraction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3.4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0.8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3.4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Delta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Encoding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0.3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-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0.3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SNN/ANN/FPGA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67.5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5.5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13.7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Character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Selection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0.6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-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0.6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TOTAL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167.0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117.5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113.2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3" name="Google Shape;373;p46"/>
          <p:cNvGraphicFramePr/>
          <p:nvPr/>
        </p:nvGraphicFramePr>
        <p:xfrm>
          <a:off x="4730000" y="117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{9E8893E1-D91B-430F-8760-7C6349B9AFAD}</a:tableStyleId>
              </a:tblPr>
              <a:tblGrid>
                <a:gridCol w="1927100"/>
                <a:gridCol w="1130725"/>
                <a:gridCol w="759300"/>
              </a:tblGrid>
              <a:tr h="45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Energy (uJ)</a:t>
                      </a:r>
                      <a:endParaRPr b="1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SNN/FPGA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ANN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9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Preprocessing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65.2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65.2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5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Feature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Extraction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4.94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2.84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5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Delta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Encoding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0.82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-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SNN/ANN/FPGA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38.</a:t>
                      </a: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2/ 3.75E-5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52.8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5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Character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Selection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0.02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-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TOTAL</a:t>
                      </a:r>
                      <a:endParaRPr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109.21/69.98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120.87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4" name="Google Shape;374;p4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7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380" name="Google Shape;380;p4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Successes &amp; Key Achievements</a:t>
            </a:r>
            <a:endParaRPr/>
          </a:p>
        </p:txBody>
      </p:sp>
      <p:graphicFrame>
        <p:nvGraphicFramePr>
          <p:cNvPr id="386" name="Google Shape;386;p48"/>
          <p:cNvGraphicFramePr/>
          <p:nvPr/>
        </p:nvGraphicFramePr>
        <p:xfrm>
          <a:off x="3117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{4AE3A5C1-63CB-43BA-ABAF-F9DCDF095882}</a:tableStyleId>
              </a:tblPr>
              <a:tblGrid>
                <a:gridCol w="2407425"/>
                <a:gridCol w="2910550"/>
                <a:gridCol w="32026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Design Requirements</a:t>
                      </a:r>
                      <a:endParaRPr b="1" sz="1500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Final Outcome</a:t>
                      </a:r>
                      <a:endParaRPr b="1" sz="1500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Notes</a:t>
                      </a:r>
                      <a:endParaRPr b="1" sz="1500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Real-Time Operation</a:t>
                      </a:r>
                      <a:endParaRPr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167 ms latency (CPU)</a:t>
                      </a:r>
                      <a:endParaRPr b="1"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Meets ≤ 300 ms requirement</a:t>
                      </a:r>
                      <a:endParaRPr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Keyboard Functionality</a:t>
                      </a:r>
                      <a:endParaRPr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36-character alphanumeric layout</a:t>
                      </a:r>
                      <a:endParaRPr b="1"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Exceeds 4-8 key requirement</a:t>
                      </a:r>
                      <a:endParaRPr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Spike-Based Computation</a:t>
                      </a:r>
                      <a:endParaRPr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SNN implemented</a:t>
                      </a:r>
                      <a:endParaRPr b="1"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Used for final decision-making stage</a:t>
                      </a:r>
                      <a:endParaRPr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Character Selection</a:t>
                      </a:r>
                      <a:endParaRPr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Full working pipeline demo</a:t>
                      </a:r>
                      <a:endParaRPr b="1"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End-to-end system completed</a:t>
                      </a:r>
                      <a:endParaRPr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Classification Performance</a:t>
                      </a:r>
                      <a:endParaRPr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Above random chance</a:t>
                      </a:r>
                      <a:endParaRPr b="1"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Shows some meaningful learning of P300 signals</a:t>
                      </a:r>
                      <a:endParaRPr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Cost Constraint</a:t>
                      </a:r>
                      <a:endParaRPr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$310.57 total cost</a:t>
                      </a:r>
                      <a:endParaRPr b="1"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Well below $600 limit</a:t>
                      </a:r>
                      <a:endParaRPr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Reproducibility</a:t>
                      </a:r>
                      <a:endParaRPr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Consistent evaluation methods</a:t>
                      </a:r>
                      <a:endParaRPr b="1"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Consistent training/validation/testing</a:t>
                      </a:r>
                      <a:endParaRPr sz="1500"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7" name="Google Shape;387;p4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Solving &amp; Design Implementation</a:t>
            </a:r>
            <a:endParaRPr/>
          </a:p>
        </p:txBody>
      </p:sp>
      <p:sp>
        <p:nvSpPr>
          <p:cNvPr id="393" name="Google Shape;393;p49"/>
          <p:cNvSpPr txBox="1"/>
          <p:nvPr>
            <p:ph idx="1" type="body"/>
          </p:nvPr>
        </p:nvSpPr>
        <p:spPr>
          <a:xfrm>
            <a:off x="2060100" y="1017725"/>
            <a:ext cx="5023800" cy="1477500"/>
          </a:xfrm>
          <a:prstGeom prst="rect">
            <a:avLst/>
          </a:prstGeom>
          <a:solidFill>
            <a:srgbClr val="78909C">
              <a:alpha val="20000"/>
            </a:srgbClr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Preprocessing</a:t>
            </a:r>
            <a:endParaRPr b="1"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</a:rPr>
              <a:t>Developed Three Preprocessing Functions: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Full Dataset with P300 vs non-P300 </a:t>
            </a:r>
            <a:r>
              <a:rPr lang="en" sz="1500">
                <a:solidFill>
                  <a:schemeClr val="lt2"/>
                </a:solidFill>
              </a:rPr>
              <a:t>indicators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Full Dataset with Flash IDs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Simulated </a:t>
            </a:r>
            <a:r>
              <a:rPr lang="en" sz="1500">
                <a:solidFill>
                  <a:schemeClr val="lt2"/>
                </a:solidFill>
              </a:rPr>
              <a:t>Real</a:t>
            </a:r>
            <a:r>
              <a:rPr lang="en" sz="1500">
                <a:solidFill>
                  <a:schemeClr val="lt2"/>
                </a:solidFill>
              </a:rPr>
              <a:t>-</a:t>
            </a:r>
            <a:r>
              <a:rPr lang="en" sz="1500">
                <a:solidFill>
                  <a:schemeClr val="lt2"/>
                </a:solidFill>
              </a:rPr>
              <a:t>Time</a:t>
            </a:r>
            <a:r>
              <a:rPr lang="en" sz="1500">
                <a:solidFill>
                  <a:schemeClr val="lt2"/>
                </a:solidFill>
              </a:rPr>
              <a:t> </a:t>
            </a:r>
            <a:r>
              <a:rPr lang="en" sz="1500">
                <a:solidFill>
                  <a:schemeClr val="lt2"/>
                </a:solidFill>
              </a:rPr>
              <a:t>Processing </a:t>
            </a:r>
            <a:r>
              <a:rPr lang="en" sz="1500">
                <a:solidFill>
                  <a:schemeClr val="lt2"/>
                </a:solidFill>
              </a:rPr>
              <a:t>of a </a:t>
            </a:r>
            <a:r>
              <a:rPr lang="en" sz="1500">
                <a:solidFill>
                  <a:schemeClr val="lt2"/>
                </a:solidFill>
              </a:rPr>
              <a:t>Single Character</a:t>
            </a:r>
            <a:endParaRPr sz="1500">
              <a:solidFill>
                <a:schemeClr val="lt2"/>
              </a:solidFill>
            </a:endParaRPr>
          </a:p>
        </p:txBody>
      </p:sp>
      <p:sp>
        <p:nvSpPr>
          <p:cNvPr id="394" name="Google Shape;394;p49"/>
          <p:cNvSpPr txBox="1"/>
          <p:nvPr>
            <p:ph idx="1" type="body"/>
          </p:nvPr>
        </p:nvSpPr>
        <p:spPr>
          <a:xfrm>
            <a:off x="4626000" y="2583713"/>
            <a:ext cx="4206300" cy="2115000"/>
          </a:xfrm>
          <a:prstGeom prst="rect">
            <a:avLst/>
          </a:prstGeom>
          <a:solidFill>
            <a:srgbClr val="78909C">
              <a:alpha val="20000"/>
            </a:srgbClr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Spike Encoding</a:t>
            </a:r>
            <a:endParaRPr b="1"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</a:rPr>
              <a:t>Started with Deterministic Rate Encoding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Issue: </a:t>
            </a:r>
            <a:r>
              <a:rPr lang="en" sz="1500">
                <a:solidFill>
                  <a:schemeClr val="lt2"/>
                </a:solidFill>
              </a:rPr>
              <a:t>Lost Temporal Information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</a:rPr>
              <a:t>Switched to Delta Encoding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Captures increases/decreases in signal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Fewer unnecessary spikes, and improved model performance</a:t>
            </a:r>
            <a:endParaRPr sz="1500">
              <a:solidFill>
                <a:schemeClr val="lt2"/>
              </a:solidFill>
            </a:endParaRPr>
          </a:p>
        </p:txBody>
      </p:sp>
      <p:sp>
        <p:nvSpPr>
          <p:cNvPr id="395" name="Google Shape;395;p49"/>
          <p:cNvSpPr txBox="1"/>
          <p:nvPr/>
        </p:nvSpPr>
        <p:spPr>
          <a:xfrm>
            <a:off x="311700" y="2583688"/>
            <a:ext cx="4206300" cy="2115000"/>
          </a:xfrm>
          <a:prstGeom prst="rect">
            <a:avLst/>
          </a:prstGeom>
          <a:solidFill>
            <a:srgbClr val="78909C">
              <a:alpha val="2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Feature Extraction</a:t>
            </a:r>
            <a:endParaRPr sz="1500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Started with Static Feature Extraction</a:t>
            </a:r>
            <a:endParaRPr sz="1500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verage"/>
              <a:buChar char="➢"/>
            </a:pPr>
            <a:r>
              <a:rPr lang="en" sz="1500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Issue: Lost Temporal Information from Waveforms</a:t>
            </a:r>
            <a:endParaRPr sz="1500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Switched to Time-Based Feature Extraction</a:t>
            </a:r>
            <a:endParaRPr sz="1500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verage"/>
              <a:buChar char="➢"/>
            </a:pPr>
            <a:r>
              <a:rPr lang="en" sz="1500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Used downsampling and windowing</a:t>
            </a:r>
            <a:endParaRPr sz="1500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verage"/>
              <a:buChar char="➢"/>
            </a:pPr>
            <a:r>
              <a:rPr lang="en" sz="1500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Better use of SNN temporal dynamics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96" name="Google Shape;396;p4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Solving &amp; Design Implementation (cont.)</a:t>
            </a:r>
            <a:endParaRPr/>
          </a:p>
        </p:txBody>
      </p:sp>
      <p:sp>
        <p:nvSpPr>
          <p:cNvPr id="402" name="Google Shape;402;p50"/>
          <p:cNvSpPr txBox="1"/>
          <p:nvPr/>
        </p:nvSpPr>
        <p:spPr>
          <a:xfrm>
            <a:off x="4626000" y="1017725"/>
            <a:ext cx="4206300" cy="2138400"/>
          </a:xfrm>
          <a:prstGeom prst="rect">
            <a:avLst/>
          </a:prstGeom>
          <a:solidFill>
            <a:srgbClr val="78909C">
              <a:alpha val="2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Character Selection</a:t>
            </a:r>
            <a:endParaRPr b="1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Challenge: </a:t>
            </a: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E</a:t>
            </a: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poch ordering, &amp; tracking with additional variables</a:t>
            </a:r>
            <a:endParaRPr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verage"/>
              <a:buChar char="➢"/>
            </a:pP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Computed row/column probabilities from flash matrix</a:t>
            </a:r>
            <a:endParaRPr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Converted data handling from 2D → 1D</a:t>
            </a:r>
            <a:endParaRPr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Final method uses log-based probability summation</a:t>
            </a:r>
            <a:endParaRPr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verage"/>
              <a:buChar char="➢"/>
            </a:pP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More accurate and stable output</a:t>
            </a:r>
            <a:endParaRPr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03" name="Google Shape;403;p50"/>
          <p:cNvSpPr txBox="1"/>
          <p:nvPr/>
        </p:nvSpPr>
        <p:spPr>
          <a:xfrm>
            <a:off x="311700" y="3271500"/>
            <a:ext cx="8520600" cy="1477500"/>
          </a:xfrm>
          <a:prstGeom prst="rect">
            <a:avLst/>
          </a:prstGeom>
          <a:solidFill>
            <a:srgbClr val="78909C">
              <a:alpha val="2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FPGA Implementation</a:t>
            </a:r>
            <a:endParaRPr b="1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Challenges: </a:t>
            </a: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Designing, Implementing Three-Layer SNN, &amp; Sequential Timing</a:t>
            </a:r>
            <a:endParaRPr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verage"/>
              <a:buChar char="➢"/>
            </a:pP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Required designing a universal neuron with designated LIF-based formulas </a:t>
            </a:r>
            <a:endParaRPr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verage"/>
              <a:buChar char="➢"/>
            </a:pP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Developed a generation method to upscale 128 neurons → 64 neurons → 2 neurons </a:t>
            </a:r>
            <a:endParaRPr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verage"/>
              <a:buChar char="➢"/>
            </a:pP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Three Layer Connection between layers to declare specific state when each layer will run and ensure continuous membrane accumulation for individual samples</a:t>
            </a:r>
            <a:endParaRPr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04" name="Google Shape;404;p50"/>
          <p:cNvSpPr txBox="1"/>
          <p:nvPr/>
        </p:nvSpPr>
        <p:spPr>
          <a:xfrm>
            <a:off x="311700" y="1017725"/>
            <a:ext cx="4206300" cy="2138400"/>
          </a:xfrm>
          <a:prstGeom prst="rect">
            <a:avLst/>
          </a:prstGeom>
          <a:solidFill>
            <a:srgbClr val="78909C">
              <a:alpha val="2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SNN Architecture &amp; Training</a:t>
            </a:r>
            <a:endParaRPr b="1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Designed with FPGA memory + LUT usage in mind</a:t>
            </a:r>
            <a:endParaRPr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verage"/>
              <a:buChar char="➢"/>
            </a:pP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Hidden layers from 256 → 128 to 128 → 64</a:t>
            </a:r>
            <a:endParaRPr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Hyperparameters tuned through iterative testing</a:t>
            </a:r>
            <a:endParaRPr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Training Challenges:</a:t>
            </a:r>
            <a:endParaRPr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verage"/>
              <a:buChar char="○"/>
            </a:pP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Sparse spikes</a:t>
            </a:r>
            <a:endParaRPr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verage"/>
              <a:buChar char="○"/>
            </a:pP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Non-differentiable gradients</a:t>
            </a:r>
            <a:endParaRPr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verage"/>
              <a:buChar char="○"/>
            </a:pPr>
            <a:r>
              <a:rPr lang="en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Temporal behavior</a:t>
            </a:r>
            <a:endParaRPr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05" name="Google Shape;405;p5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&amp; Limitations</a:t>
            </a:r>
            <a:endParaRPr/>
          </a:p>
        </p:txBody>
      </p:sp>
      <p:sp>
        <p:nvSpPr>
          <p:cNvPr id="411" name="Google Shape;411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Final accuracy ~50%: many typos could happen and hinder communication</a:t>
            </a:r>
            <a:endParaRPr>
              <a:solidFill>
                <a:schemeClr val="l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n">
                <a:solidFill>
                  <a:schemeClr val="lt2"/>
                </a:solidFill>
              </a:rPr>
              <a:t>Potential cause: inter-subject variability or architecture limitations 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Managing timestep control and synchronization across layers added design complexity including incorporation of UART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Fixed-point arithmetic introduced precision loss vs. CPU floating point model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Drastic FPGA development learning curve within several weeks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Improving accuracy of FPGA board outputs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412" name="Google Shape;412;p5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 &amp; Potential Improvements</a:t>
            </a:r>
            <a:endParaRPr/>
          </a:p>
        </p:txBody>
      </p:sp>
      <p:sp>
        <p:nvSpPr>
          <p:cNvPr id="418" name="Google Shape;418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UART</a:t>
            </a:r>
            <a:r>
              <a:rPr lang="en">
                <a:solidFill>
                  <a:schemeClr val="lt2"/>
                </a:solidFill>
              </a:rPr>
              <a:t> communication to and from FPGA to simulate real-time character selection using FPGA SNN.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Full pipeline FPGA implementation (Preprocessing -&gt; Character Selection on FPGA)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Instantaneous</a:t>
            </a:r>
            <a:r>
              <a:rPr lang="en">
                <a:solidFill>
                  <a:schemeClr val="lt2"/>
                </a:solidFill>
              </a:rPr>
              <a:t> use of neurons within neural network on FPGA vs. Sequential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Subject-specific SNN tuning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Confidence cut-offs for repetition number each character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">
                <a:solidFill>
                  <a:schemeClr val="lt2"/>
                </a:solidFill>
              </a:rPr>
              <a:t>Full Virtual Keyboard integration with real-time gathered EEG data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419" name="Google Shape;419;p5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425" name="Google Shape;425;p5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431" name="Google Shape;431;p54"/>
          <p:cNvSpPr txBox="1"/>
          <p:nvPr>
            <p:ph idx="1" type="body"/>
          </p:nvPr>
        </p:nvSpPr>
        <p:spPr>
          <a:xfrm>
            <a:off x="311700" y="1017725"/>
            <a:ext cx="85206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Objective</a:t>
            </a:r>
            <a:endParaRPr b="1"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➢"/>
            </a:pPr>
            <a:r>
              <a:rPr lang="en" sz="1500">
                <a:solidFill>
                  <a:schemeClr val="lt2"/>
                </a:solidFill>
              </a:rPr>
              <a:t>Develop an EEG-based system for non-invasive assistive communication using a SNN</a:t>
            </a:r>
            <a:endParaRPr sz="1500">
              <a:solidFill>
                <a:schemeClr val="lt2"/>
              </a:solidFill>
            </a:endParaRPr>
          </a:p>
        </p:txBody>
      </p:sp>
      <p:sp>
        <p:nvSpPr>
          <p:cNvPr id="432" name="Google Shape;432;p54"/>
          <p:cNvSpPr txBox="1"/>
          <p:nvPr>
            <p:ph idx="1" type="body"/>
          </p:nvPr>
        </p:nvSpPr>
        <p:spPr>
          <a:xfrm>
            <a:off x="311700" y="1664225"/>
            <a:ext cx="85206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Methods</a:t>
            </a:r>
            <a:endParaRPr sz="1500">
              <a:solidFill>
                <a:schemeClr val="lt2"/>
              </a:solidFill>
            </a:endParaRPr>
          </a:p>
        </p:txBody>
      </p:sp>
      <p:graphicFrame>
        <p:nvGraphicFramePr>
          <p:cNvPr id="433" name="Google Shape;433;p54"/>
          <p:cNvGraphicFramePr/>
          <p:nvPr/>
        </p:nvGraphicFramePr>
        <p:xfrm>
          <a:off x="311700" y="207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{4AE3A5C1-63CB-43BA-ABAF-F9DCDF095882}</a:tableStyleId>
              </a:tblPr>
              <a:tblGrid>
                <a:gridCol w="1881925"/>
                <a:gridCol w="6638675"/>
              </a:tblGrid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Data</a:t>
                      </a:r>
                      <a:endParaRPr b="1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P300 dataset (55 subjects), 8 selected EEG channels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Preprocessing</a:t>
                      </a:r>
                      <a:endParaRPr b="1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600 ms epochs, baseline correction, bandpass filter, detrending, downsampling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Feature Extraction</a:t>
                      </a:r>
                      <a:endParaRPr b="1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Time windowing</a:t>
                      </a: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 (200-400 ms)</a:t>
                      </a: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, standard normalization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Spike Encoding</a:t>
                      </a:r>
                      <a:endParaRPr b="1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Delta encoding (threshold = 0.09) capturing signal changes with on/off spikes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SNN Classification</a:t>
                      </a:r>
                      <a:endParaRPr b="1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LIF neurons (β = 0.95, threshold = 1), architecture 8 → 128 → 64 → 2, trained with BPTT + surrogate gradients, weighted cross-entropy, Adam optimizer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Character Selection</a:t>
                      </a:r>
                      <a:endParaRPr b="1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Log-probability summation across rows/columns to select final character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FPGA Implementation</a:t>
                      </a:r>
                      <a:endParaRPr b="1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Deployment</a:t>
                      </a: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 of SNN on FPGA with timestep-based processing and hardware validation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4" name="Google Shape;434;p5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440" name="Google Shape;440;p55"/>
          <p:cNvSpPr txBox="1"/>
          <p:nvPr>
            <p:ph idx="1" type="body"/>
          </p:nvPr>
        </p:nvSpPr>
        <p:spPr>
          <a:xfrm>
            <a:off x="311700" y="1017725"/>
            <a:ext cx="85206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Results</a:t>
            </a:r>
            <a:endParaRPr b="1"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</a:rPr>
              <a:t>Successfully implemented in both software and FPGA (pseudo-real-time operation)</a:t>
            </a:r>
            <a:endParaRPr sz="1500">
              <a:solidFill>
                <a:schemeClr val="lt2"/>
              </a:solidFill>
            </a:endParaRPr>
          </a:p>
        </p:txBody>
      </p:sp>
      <p:graphicFrame>
        <p:nvGraphicFramePr>
          <p:cNvPr id="441" name="Google Shape;441;p55"/>
          <p:cNvGraphicFramePr/>
          <p:nvPr/>
        </p:nvGraphicFramePr>
        <p:xfrm>
          <a:off x="311700" y="16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{9E8893E1-D91B-430F-8760-7C6349B9AFAD}</a:tableStyleId>
              </a:tblPr>
              <a:tblGrid>
                <a:gridCol w="1077250"/>
                <a:gridCol w="1511925"/>
                <a:gridCol w="1511925"/>
                <a:gridCol w="44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CPU</a:t>
                      </a:r>
                      <a:endParaRPr b="1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FPGA</a:t>
                      </a:r>
                      <a:endParaRPr b="1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Accuracy</a:t>
                      </a:r>
                      <a:endParaRPr b="1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48.31 ± 22.15%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4.76’%*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CPU a</a:t>
                      </a: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bove random baseline, but high subject variability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*Single Subject - not above baseline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Latency</a:t>
                      </a:r>
                      <a:endParaRPr b="1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167 ms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113 ms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Within ≤300 ms total system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Energy</a:t>
                      </a:r>
                      <a:endParaRPr b="1">
                        <a:solidFill>
                          <a:schemeClr val="lt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109.21 μJ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3.75*10^-5</a:t>
                      </a: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μJ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Energy was reduced after FPGA </a:t>
                      </a:r>
                      <a:r>
                        <a:rPr lang="en">
                          <a:solidFill>
                            <a:schemeClr val="lt2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implementation</a:t>
                      </a:r>
                      <a:endParaRPr>
                        <a:solidFill>
                          <a:schemeClr val="lt2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2" name="Google Shape;442;p55"/>
          <p:cNvSpPr txBox="1"/>
          <p:nvPr>
            <p:ph idx="1" type="body"/>
          </p:nvPr>
        </p:nvSpPr>
        <p:spPr>
          <a:xfrm>
            <a:off x="311700" y="3435925"/>
            <a:ext cx="8520600" cy="9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Impact</a:t>
            </a:r>
            <a:endParaRPr b="1" sz="15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</a:rPr>
              <a:t>Highlights the impact in biomedical engineering of turning neural signal processing and computation into accessible and efficient assistive communication technology.</a:t>
            </a:r>
            <a:endParaRPr sz="1500">
              <a:solidFill>
                <a:schemeClr val="lt2"/>
              </a:solidFill>
            </a:endParaRPr>
          </a:p>
        </p:txBody>
      </p:sp>
      <p:sp>
        <p:nvSpPr>
          <p:cNvPr id="443" name="Google Shape;443;p5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6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449" name="Google Shape;449;p5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455" name="Google Shape;455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[1] </a:t>
            </a:r>
            <a:r>
              <a:rPr lang="en" sz="1400">
                <a:solidFill>
                  <a:schemeClr val="lt2"/>
                </a:solidFill>
              </a:rPr>
              <a:t>L. A. Farwell and E. Donchin, “Talking off the top of your head: toward a mental prosthesis utilizing event-related brain potentials,” </a:t>
            </a:r>
            <a:r>
              <a:rPr i="1" lang="en" sz="1400">
                <a:solidFill>
                  <a:schemeClr val="lt2"/>
                </a:solidFill>
              </a:rPr>
              <a:t>Electroencephalography and Clinical Neurophysiology</a:t>
            </a:r>
            <a:r>
              <a:rPr lang="en" sz="1400">
                <a:solidFill>
                  <a:schemeClr val="lt2"/>
                </a:solidFill>
              </a:rPr>
              <a:t>, vol. 70, no. 6, pp. 510–523, Dec. 1988, doi:</a:t>
            </a:r>
            <a:r>
              <a:rPr lang="en" sz="1400">
                <a:solidFill>
                  <a:schemeClr val="lt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400" u="sng">
                <a:solidFill>
                  <a:schemeClr val="l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10.1016/0013-4694(88)90149-6</a:t>
            </a:r>
            <a:r>
              <a:rPr lang="en" sz="1400">
                <a:solidFill>
                  <a:schemeClr val="lt2"/>
                </a:solidFill>
              </a:rPr>
              <a:t>.</a:t>
            </a:r>
            <a:endParaRPr sz="1400">
              <a:solidFill>
                <a:schemeClr val="lt2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[2] </a:t>
            </a:r>
            <a:r>
              <a:rPr lang="en" sz="1400">
                <a:solidFill>
                  <a:schemeClr val="lt2"/>
                </a:solidFill>
              </a:rPr>
              <a:t>K. Won, M. Kwon, M. Ahn, and S. C. Jun, "EEG Dataset for RSVP and P300 Speller Brain-Computer Interfaces," </a:t>
            </a:r>
            <a:r>
              <a:rPr i="1" lang="en" sz="1400">
                <a:solidFill>
                  <a:schemeClr val="lt2"/>
                </a:solidFill>
              </a:rPr>
              <a:t>Sci Data</a:t>
            </a:r>
            <a:r>
              <a:rPr lang="en" sz="1400">
                <a:solidFill>
                  <a:schemeClr val="lt2"/>
                </a:solidFill>
              </a:rPr>
              <a:t>, vol. 9, no. 1, p. 388, Jul. 2022, doi: https://doi.org/10.1038/s41597-022-01509-w. </a:t>
            </a:r>
            <a:endParaRPr sz="1400">
              <a:solidFill>
                <a:schemeClr val="lt2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[3] D. J. Krusienski, E. W. Sellers, D. J. McFarland, T. M. Vaughan, and J. R. Wolpaw, “Toward Enhanced P300 Speller Performance,” </a:t>
            </a:r>
            <a:r>
              <a:rPr i="1" lang="en" sz="1400">
                <a:solidFill>
                  <a:schemeClr val="lt2"/>
                </a:solidFill>
              </a:rPr>
              <a:t>Journal of Neuroscience Methods</a:t>
            </a:r>
            <a:r>
              <a:rPr lang="en" sz="1400">
                <a:solidFill>
                  <a:schemeClr val="lt2"/>
                </a:solidFill>
              </a:rPr>
              <a:t>, vol. 167, no. 1, pp. 15–21, Jan. 2008, doi: </a:t>
            </a:r>
            <a:r>
              <a:rPr lang="en" sz="1400" u="sng">
                <a:solidFill>
                  <a:schemeClr val="lt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https://doi.org/10.1016/j.jneumeth.2007.07.017</a:t>
            </a:r>
            <a:r>
              <a:rPr lang="en" sz="1400">
                <a:solidFill>
                  <a:schemeClr val="lt2"/>
                </a:solidFill>
              </a:rPr>
              <a:t>.</a:t>
            </a:r>
            <a:endParaRPr sz="1400">
              <a:solidFill>
                <a:schemeClr val="lt2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[4] J. K. Eshraghian </a:t>
            </a:r>
            <a:r>
              <a:rPr i="1" lang="en" sz="1400">
                <a:solidFill>
                  <a:schemeClr val="lt2"/>
                </a:solidFill>
              </a:rPr>
              <a:t>et al.</a:t>
            </a:r>
            <a:r>
              <a:rPr lang="en" sz="1400">
                <a:solidFill>
                  <a:schemeClr val="lt2"/>
                </a:solidFill>
              </a:rPr>
              <a:t>, “Training Spiking Neural Networks Using Lessons From Deep Learning,” </a:t>
            </a:r>
            <a:r>
              <a:rPr i="1" lang="en" sz="1400">
                <a:solidFill>
                  <a:schemeClr val="lt2"/>
                </a:solidFill>
              </a:rPr>
              <a:t>Proceedings of the IEEE</a:t>
            </a:r>
            <a:r>
              <a:rPr lang="en" sz="1400">
                <a:solidFill>
                  <a:schemeClr val="lt2"/>
                </a:solidFill>
              </a:rPr>
              <a:t>, vol. 111, no. 9, pp. 1016–1054, Sep. 2023, doi:</a:t>
            </a:r>
            <a:r>
              <a:rPr lang="en" sz="1400">
                <a:solidFill>
                  <a:schemeClr val="lt2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400" u="sng">
                <a:solidFill>
                  <a:schemeClr val="lt2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10.1109/JPROC.2023.3308088</a:t>
            </a:r>
            <a:r>
              <a:rPr lang="en" sz="1400">
                <a:solidFill>
                  <a:schemeClr val="lt2"/>
                </a:solidFill>
              </a:rPr>
              <a:t>.</a:t>
            </a:r>
            <a:endParaRPr sz="1400">
              <a:solidFill>
                <a:schemeClr val="lt2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400">
              <a:solidFill>
                <a:schemeClr val="lt2"/>
              </a:solidFill>
            </a:endParaRPr>
          </a:p>
        </p:txBody>
      </p:sp>
      <p:sp>
        <p:nvSpPr>
          <p:cNvPr id="456" name="Google Shape;456;p5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Acknowledgements</a:t>
            </a:r>
            <a:endParaRPr/>
          </a:p>
        </p:txBody>
      </p:sp>
      <p:sp>
        <p:nvSpPr>
          <p:cNvPr id="462" name="Google Shape;462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would like to thank Professor Li for her guidance, support, and encouragement throughout this project.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also would like to express our gratitude to Dr. Llammoca, for assisting us and providing valuable guidance on FPGA implementation.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Thank you to the Bioengineering Department for funding.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project wouldn’t have been possible without the help, </a:t>
            </a:r>
            <a:r>
              <a:rPr lang="en"/>
              <a:t>dedication</a:t>
            </a:r>
            <a:r>
              <a:rPr lang="en"/>
              <a:t>, and guidance from our professors and </a:t>
            </a:r>
            <a:r>
              <a:rPr lang="en"/>
              <a:t>faculty</a:t>
            </a:r>
            <a:r>
              <a:rPr lang="en"/>
              <a:t> at OU, supporting our team every step of the way this semester!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5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9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469" name="Google Shape;469;p5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0" name="Google Shape;470;p59"/>
          <p:cNvPicPr preferRelativeResize="0"/>
          <p:nvPr/>
        </p:nvPicPr>
        <p:blipFill rotWithShape="1">
          <a:blip r:embed="rId3">
            <a:alphaModFix/>
          </a:blip>
          <a:srcRect b="17613" l="13999" r="13955" t="22070"/>
          <a:stretch/>
        </p:blipFill>
        <p:spPr>
          <a:xfrm>
            <a:off x="1864875" y="4573750"/>
            <a:ext cx="1266372" cy="393601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59"/>
          <p:cNvSpPr txBox="1"/>
          <p:nvPr/>
        </p:nvSpPr>
        <p:spPr>
          <a:xfrm>
            <a:off x="3284850" y="4180150"/>
            <a:ext cx="262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Check us out on GitHub: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72" name="Google Shape;472;p59"/>
          <p:cNvSpPr txBox="1"/>
          <p:nvPr/>
        </p:nvSpPr>
        <p:spPr>
          <a:xfrm>
            <a:off x="3131250" y="4573750"/>
            <a:ext cx="4172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https://github.com/MacFadyenK/VirtualKeyboard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